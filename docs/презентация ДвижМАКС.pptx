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92"/>
  </p:normalViewPr>
  <p:slideViewPr>
    <p:cSldViewPr snapToGrid="0">
      <p:cViewPr varScale="1">
        <p:scale>
          <a:sx n="106" d="100"/>
          <a:sy n="106" d="100"/>
        </p:scale>
        <p:origin x="7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Доля респондентов</c:v>
          </c:tx>
          <c:spPr>
            <a:solidFill>
              <a:srgbClr val="4169E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 b="1">
                    <a:solidFill>
                      <a:srgbClr val="100C1B"/>
                    </a:solidFill>
                    <a:latin typeface="DejaVu Sans"/>
                    <a:ea typeface="DejaVu Sans"/>
                    <a:cs typeface="DejaVu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Подтвержденный
профиль</c:v>
                </c:pt>
                <c:pt idx="1">
                  <c:v>Возраст</c:v>
                </c:pt>
                <c:pt idx="2">
                  <c:v>Фото</c:v>
                </c:pt>
                <c:pt idx="3">
                  <c:v>Общие интересы</c:v>
                </c:pt>
                <c:pt idx="4">
                  <c:v>Описание о себе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0.5</c:v>
                </c:pt>
                <c:pt idx="1">
                  <c:v>0.63414599999999999</c:v>
                </c:pt>
                <c:pt idx="2">
                  <c:v>0.64634100000000005</c:v>
                </c:pt>
                <c:pt idx="3">
                  <c:v>0.70731699999999997</c:v>
                </c:pt>
                <c:pt idx="4">
                  <c:v>0.71951200000000004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C6A-A848-BFE5-E1EC3FC8432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65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b"/>
        <c:numFmt formatCode="0%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00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50112"/>
        <c:crosses val="autoZero"/>
        <c:crossBetween val="between"/>
        <c:majorUnit val="0.25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Для технической проверки откройте работающий бот по ссылке. Для реального сценария нужны два аккаунта MAX с профилями 18+ и намерением пойти на одно событие. Контакты каждый участник вводит и подтверждает отдельно. /demo позволяет воспроизвести взаимный интерес на синтетических анкетах.</a:t>
            </a:r>
          </a:p>
          <a:p>
            <a:endParaRPr/>
          </a:p>
          <a:p>
            <a:r>
              <a:t>Локальный запуск после заполнения .env: docker compose -f docker-compose.yml -f docker-compose.polling.yml up -d --build. Для polling нужен отдельный тестовый бот без webhook. Демо-данные: docker compose --profile tools run --rm demo-seed. Необходимы MAX_BOT_TOKEN, YANDEX_API_KEY, YANDEX_FOLDER_ID, POSTGRES_PASSWORD и согласованный DATABASE_URL. Другие параметры и режимы: .env.example и README. Собственного публичного пользовательского API в сценарии нет, webhook MAX служит транспортом.</a:t>
            </a:r>
          </a:p>
          <a:p>
            <a:endParaRPr/>
          </a:p>
          <a:p>
            <a:r>
              <a:t>Точный commit по архиву установить нельзя. Для идентификации указан вычисленный SHA-256 фактически присланного архива. Доступ к GitHub в среде подготовки был недоступен. Для закрытой технической сдачи команда должна передать необходимые доступы по процедуре организаторов.</a:t>
            </a:r>
          </a:p>
          <a:p>
            <a:endParaRPr/>
          </a:p>
          <a:p>
            <a:r>
              <a:t>Источники и уточнения</a:t>
            </a:r>
          </a:p>
          <a:p>
            <a:r>
              <a:t>«Досуг и развлечения(2).pdf», с. 9–10. Архив «dvizhmax-main 7(1).zip». README.md, docs/user_flow.md, docs/catalog_update.md и указанные файлы исходного кода.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ДвижМАКС помогает человеку найти компанию на событие, которое ему интересно. Мы объединили персональную афишу и поиск людей с тем же намерением в одном боте MAX. Сейчас продукт работает с событиями Москвы, а поиск компании доступен пользователям 18+.</a:t>
            </a:r>
          </a:p>
          <a:p>
            <a:endParaRPr/>
          </a:p>
          <a:p>
            <a:r>
              <a:t>Источники и уточнения</a:t>
            </a:r>
          </a:p>
          <a:p>
            <a:r>
              <a:t>Архив «dvizhmax-main 7(1).zip». README.md, docs/user_flow.md, docs/catalog_update.md и указанные файлы исходного кода. Обложка: декоративная иллюстрация на основе изображения, предоставленного пользователем. Сохранен сюжет с двумя друзьями и роботом на вечеринке; композиция и свет обработаны с помощью imagegen. Это визуальный образ, а не фотография реального мероприятия или реализованного устройства.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разведочном опросе участвовали 82 человека. 51 респондент хотя бы раз за последние три месяца пропустил понравившееся событие, потому что не с кем было пойти. Для 34 человек это повторяющаяся ситуация. При этом только шестеро обычно ищут компанию в чатах или сообществах. Это показывает разрыв между интересом к событию и привычным способом найти компанию. Мы не переносим эти доли на всех жителей Москвы. В опросе нет вопроса о городе, есть 20 респондентов младше 18 лет. Среди 62 совершеннолетних такой опыт описали 38 человек.</a:t>
            </a:r>
          </a:p>
          <a:p>
            <a:endParaRPr/>
          </a:p>
          <a:p>
            <a:r>
              <a:t>Источники и уточнения</a:t>
            </a:r>
          </a:p>
          <a:p>
            <a:r>
              <a:t>«Новая форма.csv», архив «Новая форма.csv 3.zip». 82 ответа, 21–22.09.2026. Вопросы 4–9. Расчеты по исходным строкам, без исключения ответов. Вопрос 5: 29 «несколько раз», 5 «регулярно», 17 «один раз», 31 «нет». Вопрос 6 допускает несколько ответов.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Наш приоритетный пользователь уже выбрал событие и действительно хочет туда попасть. Его друзья не могут пойти, одному некомфортно, но он готов рассмотреть нового человека, если есть контекст. В интервью Иван описал именно такой случай с концертом. При этом мы увидели и границы: Вадим не готов искать незнакомых людей, а Григорию проще перенести поход и пойти с друзьями позже. Поэтому наша гипотеза сильнее для событий с конкретной датой и пользователей, открытых новой компании.</a:t>
            </a:r>
          </a:p>
          <a:p>
            <a:endParaRPr/>
          </a:p>
          <a:p>
            <a:r>
              <a:t>Источники и уточнения</a:t>
            </a:r>
          </a:p>
          <a:p>
            <a:r>
              <a:t>Три интервью, полный текст предоставлен пользователем в переписке: Иван, Григорий, Вадим. Это качественные наблюдения, а не оценка распространенности. Цитата Ивана сокращена с сохранением смысла, заменены стрелки на пунктуацию. Возраст 18–30 и Москва: выбор команды для пилота, а не вывод о географии опроса.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связываем четыре шага: событие, намерение пойти, человек с тем же планом и контакт после взаимного интереса. Сейчас пользователь обычно пересылает анонс друзьям. Если они не могут, новый поиск компании часто не начинается. В ДвижМАКС повод для знакомства уже известен обеим сторонам. Афишей можно пользоваться без социальной анкеты, а для поиска компании нужен профиль 18+. Контакт не открывается автоматически.</a:t>
            </a:r>
          </a:p>
          <a:p>
            <a:endParaRPr/>
          </a:p>
          <a:p>
            <a:r>
              <a:t>Источники и уточнения</a:t>
            </a:r>
          </a:p>
          <a:p>
            <a:r>
              <a:t>Архив «dvizhmax-main 7(1).zip». README.md, docs/user_flow.md, docs/catalog_update.md и указанные файлы исходного кода. «Новая форма.csv», архив «Новая форма.csv 3.zip». 82 ответа, 21–22.09.2026. Вопросы 4–9. Расчеты по исходным строкам, без исключения ответов. Вопрос 6: 49 из 82 обычно пишут друзьям или знакомым.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Афиша в мессенджере уже существует: GIGSBOT работает и в Telegram, и в MAX, Weekendy помогает выбрать событие Москвы, а Госуслуги Культура дают культурную афишу в MAX. Backroom предлагает новые места и события Петербурга и позволяет отправить карточку друзьям. Поэтому сам канал MAX или каталог не являются достаточным отличием.</a:t>
            </a:r>
          </a:p>
          <a:p>
            <a:endParaRPr/>
          </a:p>
          <a:p>
            <a:r>
              <a:t>Фокус текущего ДвижМАКС: найти нового человека, который создал план на то же событие, выразить взаимный интерес и добровольно обменяться контактами. Это вывод о позиционировании по изученным описаниям, а не доказательство отсутствия аналогов. На просмотренных страницах конкурентов сценарий взаимного мэтча на событие не описан; это не подтверждает отсутствие функции внутри продуктов. Успешность нашей связки предстоит проверить в пилоте.</a:t>
            </a:r>
          </a:p>
          <a:p>
            <a:endParaRPr/>
          </a:p>
          <a:p>
            <a:r>
              <a:t>В исходном конкурентном анализе планируемые возможности ДвижМАКС смешаны с реализованными. Волонтёрская витрина, голосования и достижения не заявлены здесь как готовые функции. Субъективный рейтинг 4,6 из 5 не использован. Пересылка карточки друзьям у Backroom не приравнивается к поиску незнакомых людей с взаимным мэтчем.</a:t>
            </a:r>
          </a:p>
          <a:p>
            <a:endParaRPr/>
          </a:p>
          <a:p>
            <a:r>
              <a:t>Источники и уточнения</a:t>
            </a:r>
          </a:p>
          <a:p>
            <a:r>
              <a:t>«конкурентный анализ(2).pdf», рабочая версия от 17.09.2026. Заявленные функции дополнительно сверены 27.09.2026 по официальным страницам: https://gigsbot.ru/ ; https://weekendy.ru/ ; https://backroombot.ru/ ; https://max.ru/gosuslugi_culture_bot ; https://afisha.yandex.ru/moscow . Проверены публичные описания; пользовательские сценарии внутри сервисов не проходились. Архив «dvizhmax-main 7(1).zip». README.md, docs/user_flow.md, docs/catalog_update.md и указанные файлы исходного кода.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афише пользователь видит дату, место и стоимость события, может перейти к источнику и сохранить план. Затем он открывает людей, которые тоже хотят пойти на это событие и ищут компанию. Лайк относится к конкретному человеку в контексте выбранного события. Если анкет пока нет, это не ошибка: именно плотность участников на одном событии станет ключевым условием пилота.</a:t>
            </a:r>
          </a:p>
          <a:p>
            <a:endParaRPr/>
          </a:p>
          <a:p>
            <a:r>
              <a:t>Источники и уточнения</a:t>
            </a:r>
          </a:p>
          <a:p>
            <a:r>
              <a:t>Архив «dvizhmax-main 7(1).zip». README.md, docs/user_flow.md, docs/catalog_update.md и указанные файлы исходного кода. Скриншоты из «Презентация ДВИЖМАКС ТЕСТ.pptx», слайд 7. Показаны фрагменты реального интерфейса тестовой версии. Демо-профиль не является реальным пользователем.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После взаимного лайка участники получают мэтч. Дальше каждый решает, готов ли поделиться контактом. Бот просит ввести текст и показывает, что именно получит второй человек. Передача происходит только после подтверждения. Это уменьшает нежелательное раскрытие контактов, но не гарантирует безопасность встречи: профиль и контакт пока не верифицируются. На слайде фрагменты демо-экранов. Реальный обмен между двумя аккаунтами отдельно зафиксирован в QA.</a:t>
            </a:r>
          </a:p>
          <a:p>
            <a:endParaRPr/>
          </a:p>
          <a:p>
            <a:r>
              <a:t>Источники и уточнения</a:t>
            </a:r>
          </a:p>
          <a:p>
            <a:r>
              <a:t>Архив «dvizhmax-main 7(1).zip». README.md, docs/user_flow.md, docs/catalog_update.md и указанные файлы исходного кода. bot/contacts.py, infrastructure/db/repositories/contacts.py. «ДвижМАКС QA V5.xlsx», срез от 26.09.2026. Листы QA Matrix, Release Gate, Test Evidence. Статусы команды, включая статические и ручные проверки. Это не новый независимый прогон. Скриншоты: исходная презентация, слайды 7–8.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Перед совместным походом людям важно понимать, с кем они встретятся. В опросе чаще всего называли описание и общие интересы, затем фото и возраст. Эти поля есть в MVP, при этом описание и фото необязательны. Верификация профиля важна половине ответивших, но пока не реализована. Общие интересы в коде считаются по явно выбранным интересам обоих пользователей, а не по скрыто выученным предпочтениям.</a:t>
            </a:r>
          </a:p>
          <a:p>
            <a:endParaRPr/>
          </a:p>
          <a:p>
            <a:r>
              <a:t>Источники и уточнения</a:t>
            </a:r>
          </a:p>
          <a:p>
            <a:r>
              <a:t>«Новая форма.csv», архив «Новая форма.csv 3.zip». 82 ответа, 21–22.09.2026. Вопросы 4–9. Расчеты по исходным строкам, без исключения ответов. Вопрос 9: описание 59/82 (72,0%), общие интересы 58/82 (70,7%), фото 53/82 (64,6%), возраст 52/82 (63,4%), подтвержденный профиль 41/82 (50,0%). Архив «dvizhmax-main 7(1).zip». README.md, docs/user_flow.md, docs/catalog_update.md и указанные файлы исходного кода. infrastructure/db/repositories/companions.py.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Важное подтверждение: по QA команда прошла сценарий двумя реальными аккаунтами. Взаимные лайки создали мэтч, оба участника обменялись контактами. Основной путь также проверили в мобильном и веб-клиенте MAX. В QA 35 из 47 пунктов имеют PASS. Это смешанный набор статических и ручных проверок, поэтому долю нельзя читать как процент готовности продукта. Полная техническая сдача еще требует README, чистого Docker-запуска, полного прогона тестов и нескольких повторных проверок.</a:t>
            </a:r>
          </a:p>
          <a:p>
            <a:endParaRPr/>
          </a:p>
          <a:p>
            <a:r>
              <a:t>Источники и уточнения</a:t>
            </a:r>
          </a:p>
          <a:p>
            <a:r>
              <a:t>«ДвижМАКС QA V5.xlsx», срез от 26.09.2026. Листы QA Matrix, Release Gate, Test Evidence. Статусы команды, включая статические и ручные проверки. Это не новый независимый прогон. QA-26, QA-27, QA-31, QA-32. Автотесты и нагрузочные показатели здесь не заявляются.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Каталог работает отдельным процессом: получает события KudaGo, нормализует поля и обновляет базу. Yandex AI Studio размечает события по контролируемому словарю тегов. Персональная выдача ранжируется правилами по интересам и реакциям пользователя. PostgreSQL хранит основное состояние продукта, Redis используется как буфер ленты. Взаимодействие идет через MAX-бот. В коде запроса к модели передаются название, описание, категории и теги источника. Анкет и контактов в этом запросе нет.</a:t>
            </a:r>
          </a:p>
          <a:p>
            <a:endParaRPr/>
          </a:p>
          <a:p>
            <a:r>
              <a:t>Источники и уточнения</a:t>
            </a:r>
          </a:p>
          <a:p>
            <a:r>
              <a:t>Архив «dvizhmax-main 7(1).zip». README.md, docs/user_flow.md, docs/catalog_update.md и указанные файлы исходного кода. integrations/yandex_tagger.py: tag_text. docker-compose.yml. infrastructure/db/repositories/feed.py.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Это предложение пилота, а не отчет о запуске. На три недели концентрируем привлечение в одном студенческом сообществе Москвы и на трех-пяти событиях с определенной датой. Такой набор снижает риск пустой выдачи людей. Канал входа: анонс события и ссылка на бот. Команда отвечает за каталог, поддержку и последующий опрос, администратор сообщества помогает с доступом к аудитории. Партнер еще не подтвержден.</a:t>
            </a:r>
          </a:p>
          <a:p>
            <a:endParaRPr/>
          </a:p>
          <a:p>
            <a:r>
              <a:t>Основная метрика: число уникальных участников, подтвердивших совместный поход после события, деленное на число участников пилота с хотя бы одним созданным планом. Каждый человек считается один раз за пилот. Дополнительно считаем конверсию из намерения в взаимный мэтч и подтвержденный контакт, время до мэтча и повторное использование. Посещение проверяем коротким опросом обеих сторон и отдельно показываем долю ответивших. Эти данные покажут полезность, но сами по себе не докажут причинный прирост посещаемости. Для оценки прироста потребуется сравнение с базовым сценарием. Автоматическую аналитику и постопрос нужно подготовить перед пилотом.</a:t>
            </a:r>
          </a:p>
          <a:p>
            <a:endParaRPr/>
          </a:p>
          <a:p>
            <a:r>
              <a:t>Источники и уточнения</a:t>
            </a:r>
          </a:p>
          <a:p>
            <a:r>
              <a:t>План сформулирован на основе Три интервью, полный текст предоставлен пользователем в переписке: Иван, Григорий, Вадим. Это качественные наблюдения, а не оценка распространенности. «Досуг и развлечения(2).pdf», с. 19–20.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Масштабирование начинаем с повторения запуска в другом московском вузе. Это проверит, переносится ли сценарий привлечения без смены городского каталога. Следующим городом предлагаем Санкт-Петербург, но сначала проверяем доступность и покрытие источника событий, а также локальный канал привлечения. Это кандидат, не уже готовая интеграция.</a:t>
            </a:r>
          </a:p>
          <a:p>
            <a:endParaRPr/>
          </a:p>
          <a:p>
            <a:r>
              <a:t>Ядро сохраняется: модель события, профиль, взаимный интерес, контакт и интерфейс MAX. В коде загрузчик уже принимает список KUDAGO_CITIES, но пользовательский путь остается московским. Для нового города нужно завершить онбординг, изолировать выдачу и поиск людей по городу, проверить каталог и политику актуальности. Ресурсы: разработчик, локальный партнер, владелец поддержки и модерации, бюджет инфраструктуры и AI-разметки. Главный риск переноса: мало участников на одном событии.</a:t>
            </a:r>
          </a:p>
          <a:p>
            <a:endParaRPr/>
          </a:p>
          <a:p>
            <a:r>
              <a:t>Источники и уточнения</a:t>
            </a:r>
          </a:p>
          <a:p>
            <a:r>
              <a:t>Архив «dvizhmax-main 7(1).zip». README.md, docs/user_flow.md, docs/catalog_update.md и указанные файлы исходного кода. workers/catalog_worker.py, .env.example, bot/onboarding.py. «Досуг и развлечения(2).pdf», с. 12, 19. Порядок тиражирования предложен для пилота.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продуктовый риск: человеку некого показать. Поэтому пилот концентрирует участников вокруг небольшого числа событий. Главный риск доверия: профиль и контакт не верифицируются, жалоб и пользовательской модерации пока нет. Проверка возраста основана на вводе пользователя. Перед более широким запуском нужны правила, поддержка, жалобы и блокировки. В технической части есть известный риск доставки уведомления о мэтче: факт остается в базе, но постоянной очереди повторов пока нет. Также нужно закрыть релизные проверки. Мы не заявляем полную готовность к массовому запуску.</a:t>
            </a:r>
          </a:p>
          <a:p>
            <a:endParaRPr/>
          </a:p>
          <a:p>
            <a:r>
              <a:t>Источники и уточнения</a:t>
            </a:r>
          </a:p>
          <a:p>
            <a:r>
              <a:t>«ДвижМАКС QA V5.xlsx», срез от 26.09.2026. Листы QA Matrix, Release Gate, Test Evidence. Статусы команды, включая статические и ручные проверки. Это не новый независимый прогон. QA-35, QA-36, QA-44, QA-47. Архив «dvizhmax-main 7(1).zip». README.md, docs/user_flow.md, docs/catalog_update.md и указанные файлы исходного кода. bot/notifications.py, 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ДвижМАКС связывает интерес к событию с возможностью найти компанию и договориться. Проблему поддерживают опрос и интервью. Основной путь команда проверила на двух аккаунтах. Следующий шаг: ограниченный пилот и измерение совместных походов. Покажем сценарий в MAX.</a:t>
            </a:r>
          </a:p>
          <a:p>
            <a:endParaRPr/>
          </a:p>
          <a:p>
            <a:r>
              <a:t>Распределение ролей: Егор отвечает за продукт и исследование ценности, Аким за разработку и MAX-бота, Иван за UX, Дмитрий за исследование и QA.</a:t>
            </a:r>
          </a:p>
          <a:p>
            <a:endParaRPr/>
          </a:p>
          <a:p>
            <a:r>
              <a:t>Источники и уточнения</a:t>
            </a:r>
          </a:p>
          <a:p>
            <a:r>
              <a:t>Название и ссылка: README.md. Состав и роли: DvizhMAX_Product_Brief_v2(1).docx, раздел 09. Устаревающий бриф использован только для состава команды, актуального подтверждения полного состава в других файлах нет. QA Team Plan подтверждает задачи Акима, Димы и Вани.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ax.ru/t110_hakaton_max_bo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akimjlord-p/dvizhmax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0-СЛУЖЕБНЫЙ СЛАЙД">
            <a:extLst>
              <a:ext uri="{FF2B5EF4-FFF2-40B4-BE49-F238E27FC236}">
                <a16:creationId xmlns:a16="http://schemas.microsoft.com/office/drawing/2014/main" id="{A3992C4D-A673-4A7B-946A-6C5BAD2354F7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10763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СЛУЖЕБНЫЙ СЛАЙД</a:t>
            </a:r>
          </a:p>
        </p:txBody>
      </p:sp>
      <p:sp>
        <p:nvSpPr>
          <p:cNvPr id="2" name="t0-Доступ и порядок проверки">
            <a:extLst>
              <a:ext uri="{FF2B5EF4-FFF2-40B4-BE49-F238E27FC236}">
                <a16:creationId xmlns:a16="http://schemas.microsoft.com/office/drawing/2014/main" id="{6DD9CDD2-59C3-4418-A9B8-9A2AB840DDCC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11125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Доступ и порядок проверки</a:t>
            </a:r>
          </a:p>
        </p:txBody>
      </p:sp>
      <p:sp>
        <p:nvSpPr>
          <p:cNvPr id="3" name="t0-ДВИЖМАКС">
            <a:extLst>
              <a:ext uri="{FF2B5EF4-FFF2-40B4-BE49-F238E27FC236}">
                <a16:creationId xmlns:a16="http://schemas.microsoft.com/office/drawing/2014/main" id="{665C4A71-F0B4-44A2-A347-CC5CE0A2210E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2000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1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ДВИЖМАКС</a:t>
            </a:r>
          </a:p>
        </p:txBody>
      </p:sp>
      <p:sp>
        <p:nvSpPr>
          <p:cNvPr id="4" name="t0-01">
            <a:extLst>
              <a:ext uri="{FF2B5EF4-FFF2-40B4-BE49-F238E27FC236}">
                <a16:creationId xmlns:a16="http://schemas.microsoft.com/office/drawing/2014/main" id="{C3E940D6-3855-404D-B786-00B3AE7CF2D7}"/>
              </a:ext>
            </a:extLst>
          </p:cNvPr>
          <p:cNvSpPr>
            <a:spLocks noGrp="1"/>
          </p:cNvSpPr>
          <p:nvPr/>
        </p:nvSpPr>
        <p:spPr>
          <a:xfrm>
            <a:off x="11268075" y="6429375"/>
            <a:ext cx="419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5" name="t0-MAX-бот">
            <a:extLst>
              <a:ext uri="{FF2B5EF4-FFF2-40B4-BE49-F238E27FC236}">
                <a16:creationId xmlns:a16="http://schemas.microsoft.com/office/drawing/2014/main" id="{999AA171-90D1-4B73-B75C-3D677B4B5259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MAX-бот</a:t>
            </a:r>
          </a:p>
        </p:txBody>
      </p:sp>
      <p:sp>
        <p:nvSpPr>
          <p:cNvPr id="6" name="t0-max.ru/t110_hakaton_max_bot">
            <a:extLst>
              <a:ext uri="{FF2B5EF4-FFF2-40B4-BE49-F238E27FC236}">
                <a16:creationId xmlns:a16="http://schemas.microsoft.com/office/drawing/2014/main" id="{A0001EBA-D756-488B-BE97-9551D54E422F}"/>
              </a:ext>
            </a:extLst>
          </p:cNvPr>
          <p:cNvSpPr>
            <a:spLocks noGrp="1"/>
          </p:cNvSpPr>
          <p:nvPr/>
        </p:nvSpPr>
        <p:spPr>
          <a:xfrm>
            <a:off x="533400" y="2266950"/>
            <a:ext cx="685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dirty="0">
                <a:solidFill>
                  <a:srgbClr val="7538D5"/>
                </a:solidFill>
                <a:latin typeface="DejaVu Sans"/>
                <a:ea typeface="DejaVu Sans"/>
                <a:cs typeface="DejaVu Sans"/>
                <a:hlinkClick r:id="rId3"/>
              </a:rPr>
              <a:t>max.ru/t110_hakaton_max_bot</a:t>
            </a:r>
          </a:p>
        </p:txBody>
      </p:sp>
      <p:sp>
        <p:nvSpPr>
          <p:cNvPr id="7" name="t0-Исходный код">
            <a:extLst>
              <a:ext uri="{FF2B5EF4-FFF2-40B4-BE49-F238E27FC236}">
                <a16:creationId xmlns:a16="http://schemas.microsoft.com/office/drawing/2014/main" id="{D8035D02-6C75-4A56-8BD1-8FA8E0F43B3C}"/>
              </a:ext>
            </a:extLst>
          </p:cNvPr>
          <p:cNvSpPr>
            <a:spLocks noGrp="1"/>
          </p:cNvSpPr>
          <p:nvPr/>
        </p:nvSpPr>
        <p:spPr>
          <a:xfrm>
            <a:off x="533400" y="2876550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Исходный код</a:t>
            </a:r>
          </a:p>
        </p:txBody>
      </p:sp>
      <p:sp>
        <p:nvSpPr>
          <p:cNvPr id="8" name="t0-github.com/akimjlord-p/dvizh">
            <a:extLst>
              <a:ext uri="{FF2B5EF4-FFF2-40B4-BE49-F238E27FC236}">
                <a16:creationId xmlns:a16="http://schemas.microsoft.com/office/drawing/2014/main" id="{28ECBA5B-569A-4491-97DF-0E49C2F6CC4D}"/>
              </a:ext>
            </a:extLst>
          </p:cNvPr>
          <p:cNvSpPr>
            <a:spLocks noGrp="1"/>
          </p:cNvSpPr>
          <p:nvPr/>
        </p:nvSpPr>
        <p:spPr>
          <a:xfrm>
            <a:off x="533400" y="3238500"/>
            <a:ext cx="7239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dirty="0">
                <a:solidFill>
                  <a:srgbClr val="7538D5"/>
                </a:solidFill>
                <a:latin typeface="DejaVu Sans"/>
                <a:ea typeface="DejaVu Sans"/>
                <a:cs typeface="DejaVu Sans"/>
                <a:hlinkClick r:id="rId4"/>
              </a:rPr>
              <a:t>github.com/akimjlord-p/dvizhmax</a:t>
            </a:r>
          </a:p>
        </p:txBody>
      </p:sp>
      <p:sp>
        <p:nvSpPr>
          <p:cNvPr id="9" name="t0-Проверка в MAX">
            <a:extLst>
              <a:ext uri="{FF2B5EF4-FFF2-40B4-BE49-F238E27FC236}">
                <a16:creationId xmlns:a16="http://schemas.microsoft.com/office/drawing/2014/main" id="{BFA6A871-60CD-4E3A-B684-A81BF2933988}"/>
              </a:ext>
            </a:extLst>
          </p:cNvPr>
          <p:cNvSpPr>
            <a:spLocks noGrp="1"/>
          </p:cNvSpPr>
          <p:nvPr/>
        </p:nvSpPr>
        <p:spPr>
          <a:xfrm>
            <a:off x="8096250" y="188595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Проверка в MAX</a:t>
            </a:r>
          </a:p>
        </p:txBody>
      </p:sp>
      <p:sp>
        <p:nvSpPr>
          <p:cNvPr id="10" name="t0-1. /start и согласие&#10;2. Моск">
            <a:extLst>
              <a:ext uri="{FF2B5EF4-FFF2-40B4-BE49-F238E27FC236}">
                <a16:creationId xmlns:a16="http://schemas.microsoft.com/office/drawing/2014/main" id="{EACC9CF4-F233-4244-BD61-A50AEE1CFD5D}"/>
              </a:ext>
            </a:extLst>
          </p:cNvPr>
          <p:cNvSpPr>
            <a:spLocks noGrp="1"/>
          </p:cNvSpPr>
          <p:nvPr/>
        </p:nvSpPr>
        <p:spPr>
          <a:xfrm>
            <a:off x="8096250" y="2400300"/>
            <a:ext cx="3476625" cy="2114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1. /start </a:t>
            </a:r>
            <a:r>
              <a:rPr sz="172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и</a:t>
            </a:r>
            <a:r>
              <a:rPr sz="172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согласие</a:t>
            </a:r>
            <a:endParaRPr sz="1725" b="0" dirty="0">
              <a:solidFill>
                <a:srgbClr val="100C1B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2. </a:t>
            </a:r>
            <a:r>
              <a:rPr sz="172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Москва</a:t>
            </a:r>
            <a:r>
              <a:rPr sz="172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и</a:t>
            </a:r>
            <a:r>
              <a:rPr sz="172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профиль</a:t>
            </a:r>
            <a:r>
              <a:rPr sz="172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18+</a:t>
            </a:r>
          </a:p>
          <a:p>
            <a:pPr>
              <a:def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3. </a:t>
            </a:r>
            <a:r>
              <a:rPr sz="172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Афиша</a:t>
            </a:r>
            <a:r>
              <a:rPr sz="172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и</a:t>
            </a:r>
            <a:r>
              <a:rPr sz="172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«</a:t>
            </a:r>
            <a:r>
              <a:rPr sz="172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Хочу</a:t>
            </a:r>
            <a:r>
              <a:rPr sz="172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пойти</a:t>
            </a:r>
            <a:r>
              <a:rPr sz="172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»</a:t>
            </a:r>
          </a:p>
          <a:p>
            <a:pPr>
              <a:def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4. «</a:t>
            </a:r>
            <a:r>
              <a:rPr sz="172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Найти</a:t>
            </a:r>
            <a:r>
              <a:rPr sz="172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компанию</a:t>
            </a:r>
            <a:r>
              <a:rPr sz="172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»</a:t>
            </a:r>
          </a:p>
          <a:p>
            <a:pPr>
              <a:def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5. </a:t>
            </a:r>
            <a:r>
              <a:rPr sz="172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Взаимный</a:t>
            </a:r>
            <a:r>
              <a:rPr sz="172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лайк</a:t>
            </a:r>
            <a:r>
              <a:rPr sz="172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и</a:t>
            </a:r>
            <a:r>
              <a:rPr sz="172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контакт</a:t>
            </a:r>
            <a:endParaRPr sz="1725" b="0" dirty="0">
              <a:solidFill>
                <a:srgbClr val="100C1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2" name="t0-SHA-256">
            <a:extLst>
              <a:ext uri="{FF2B5EF4-FFF2-40B4-BE49-F238E27FC236}">
                <a16:creationId xmlns:a16="http://schemas.microsoft.com/office/drawing/2014/main" id="{3CC95174-1370-4EA5-B479-F01594D9069C}"/>
              </a:ext>
            </a:extLst>
          </p:cNvPr>
          <p:cNvSpPr>
            <a:spLocks noGrp="1"/>
          </p:cNvSpPr>
          <p:nvPr/>
        </p:nvSpPr>
        <p:spPr>
          <a:xfrm>
            <a:off x="533400" y="3976687"/>
            <a:ext cx="123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1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SHA-256</a:t>
            </a:r>
          </a:p>
        </p:txBody>
      </p:sp>
      <p:sp>
        <p:nvSpPr>
          <p:cNvPr id="13" name="t0-cbf40107b8f590344b551454e46e">
            <a:extLst>
              <a:ext uri="{FF2B5EF4-FFF2-40B4-BE49-F238E27FC236}">
                <a16:creationId xmlns:a16="http://schemas.microsoft.com/office/drawing/2014/main" id="{B1BE2C7D-AFBF-46FC-81E8-E85414C641FF}"/>
              </a:ext>
            </a:extLst>
          </p:cNvPr>
          <p:cNvSpPr>
            <a:spLocks noGrp="1"/>
          </p:cNvSpPr>
          <p:nvPr/>
        </p:nvSpPr>
        <p:spPr>
          <a:xfrm>
            <a:off x="533400" y="4214812"/>
            <a:ext cx="4807857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8cb9b80f6ea81ea061beffd4933aea55e3b9ec72</a:t>
            </a:r>
            <a:endParaRPr lang="en-US" sz="1425" dirty="0">
              <a:solidFill>
                <a:schemeClr val="tx1">
                  <a:lumMod val="65000"/>
                  <a:lumOff val="35000"/>
                </a:schemeClr>
              </a:solidFill>
              <a:latin typeface="DejaVu Sans"/>
            </a:endParaRPr>
          </a:p>
          <a:p>
            <a:pPr>
              <a:defRPr sz="1425" b="0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endParaRPr sz="1425" b="0" dirty="0">
              <a:solidFill>
                <a:srgbClr val="615C7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" name="t0-Реальный путь: два аккаунта ">
            <a:extLst>
              <a:ext uri="{FF2B5EF4-FFF2-40B4-BE49-F238E27FC236}">
                <a16:creationId xmlns:a16="http://schemas.microsoft.com/office/drawing/2014/main" id="{58BAD372-3E17-43D4-98CE-A8796642328E}"/>
              </a:ext>
            </a:extLst>
          </p:cNvPr>
          <p:cNvSpPr>
            <a:spLocks noGrp="1"/>
          </p:cNvSpPr>
          <p:nvPr/>
        </p:nvSpPr>
        <p:spPr>
          <a:xfrm>
            <a:off x="8096250" y="3905250"/>
            <a:ext cx="34766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200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Демо режим для </a:t>
            </a:r>
            <a:r>
              <a:rPr lang="ru-RU" sz="1200" b="0" dirty="0" err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мэтча</a:t>
            </a:r>
            <a:r>
              <a:rPr lang="en-US" sz="1200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:</a:t>
            </a:r>
            <a:endParaRPr sz="1200" b="0" dirty="0">
              <a:solidFill>
                <a:srgbClr val="615C7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5" name="t0-/demo">
            <a:extLst>
              <a:ext uri="{FF2B5EF4-FFF2-40B4-BE49-F238E27FC236}">
                <a16:creationId xmlns:a16="http://schemas.microsoft.com/office/drawing/2014/main" id="{3E719287-3F57-4776-AE20-37921C7CF006}"/>
              </a:ext>
            </a:extLst>
          </p:cNvPr>
          <p:cNvSpPr>
            <a:spLocks noGrp="1"/>
          </p:cNvSpPr>
          <p:nvPr/>
        </p:nvSpPr>
        <p:spPr>
          <a:xfrm>
            <a:off x="8096250" y="4090737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dirty="0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/demo</a:t>
            </a:r>
          </a:p>
        </p:txBody>
      </p:sp>
      <p:sp>
        <p:nvSpPr>
          <p:cNvPr id="16" name="t0-Тестовое событие и анкеты.&#10;М">
            <a:extLst>
              <a:ext uri="{FF2B5EF4-FFF2-40B4-BE49-F238E27FC236}">
                <a16:creationId xmlns:a16="http://schemas.microsoft.com/office/drawing/2014/main" id="{AC364C08-13A1-458A-8197-5B339DADE86E}"/>
              </a:ext>
            </a:extLst>
          </p:cNvPr>
          <p:cNvSpPr>
            <a:spLocks noGrp="1"/>
          </p:cNvSpPr>
          <p:nvPr/>
        </p:nvSpPr>
        <p:spPr>
          <a:xfrm>
            <a:off x="8096250" y="4390774"/>
            <a:ext cx="382704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7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Тестов</a:t>
            </a:r>
            <a:r>
              <a:rPr lang="ru-RU" sz="157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ое</a:t>
            </a:r>
            <a:r>
              <a:rPr lang="ru-RU" sz="157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событие</a:t>
            </a:r>
            <a:r>
              <a:rPr sz="157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и</a:t>
            </a:r>
            <a:r>
              <a:rPr lang="ru-RU" sz="157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демо</a:t>
            </a:r>
            <a:r>
              <a:rPr sz="157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анкеты</a:t>
            </a:r>
            <a:r>
              <a:rPr sz="157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.</a:t>
            </a:r>
          </a:p>
          <a:p>
            <a:pPr>
              <a:defRPr sz="157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Мэтч</a:t>
            </a:r>
            <a:r>
              <a:rPr sz="157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можно</a:t>
            </a:r>
            <a:r>
              <a:rPr sz="157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проверить</a:t>
            </a:r>
            <a:r>
              <a:rPr sz="157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ru-RU" sz="157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и </a:t>
            </a:r>
            <a:r>
              <a:rPr sz="157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одному</a:t>
            </a:r>
            <a:r>
              <a:rPr lang="ru-RU" sz="157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с бо</a:t>
            </a:r>
            <a:r>
              <a:rPr lang="ru-RU" sz="1575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том</a:t>
            </a:r>
            <a:r>
              <a:rPr lang="en-US" sz="1575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,</a:t>
            </a:r>
            <a:r>
              <a:rPr lang="ru-RU" sz="1575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либо со 2-ым пользователем</a:t>
            </a:r>
            <a:r>
              <a:rPr lang="en-US" sz="1575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.</a:t>
            </a:r>
            <a:endParaRPr sz="1575" b="0" dirty="0">
              <a:solidFill>
                <a:srgbClr val="100C1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1760C-49CE-5291-94CD-5572F79766D8}"/>
              </a:ext>
            </a:extLst>
          </p:cNvPr>
          <p:cNvSpPr txBox="1"/>
          <p:nvPr/>
        </p:nvSpPr>
        <p:spPr>
          <a:xfrm>
            <a:off x="477741" y="4726276"/>
            <a:ext cx="20559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submission-online</a:t>
            </a:r>
          </a:p>
        </p:txBody>
      </p:sp>
      <p:sp>
        <p:nvSpPr>
          <p:cNvPr id="23" name="t0-SHA-256">
            <a:extLst>
              <a:ext uri="{FF2B5EF4-FFF2-40B4-BE49-F238E27FC236}">
                <a16:creationId xmlns:a16="http://schemas.microsoft.com/office/drawing/2014/main" id="{2C19B277-7E3B-D45A-6C53-CF99CB1F1DC2}"/>
              </a:ext>
            </a:extLst>
          </p:cNvPr>
          <p:cNvSpPr>
            <a:spLocks noGrp="1"/>
          </p:cNvSpPr>
          <p:nvPr/>
        </p:nvSpPr>
        <p:spPr>
          <a:xfrm>
            <a:off x="533400" y="4554033"/>
            <a:ext cx="123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1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200" b="1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TAG:</a:t>
            </a:r>
            <a:endParaRPr sz="1200" b="1" dirty="0">
              <a:solidFill>
                <a:srgbClr val="615C70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340489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6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1-ДВИЖМАКС">
            <a:extLst>
              <a:ext uri="{FF2B5EF4-FFF2-40B4-BE49-F238E27FC236}">
                <a16:creationId xmlns:a16="http://schemas.microsoft.com/office/drawing/2014/main" id="{A36CA325-01B3-46C2-98D0-552BBB283E47}"/>
              </a:ext>
            </a:extLst>
          </p:cNvPr>
          <p:cNvSpPr>
            <a:spLocks noGrp="1"/>
          </p:cNvSpPr>
          <p:nvPr/>
        </p:nvSpPr>
        <p:spPr>
          <a:xfrm>
            <a:off x="533400" y="1666875"/>
            <a:ext cx="67627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8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ДВИЖМАКС</a:t>
            </a:r>
          </a:p>
        </p:txBody>
      </p:sp>
      <p:sp>
        <p:nvSpPr>
          <p:cNvPr id="3" name="t1-Компания&#10;на то же событие">
            <a:extLst>
              <a:ext uri="{FF2B5EF4-FFF2-40B4-BE49-F238E27FC236}">
                <a16:creationId xmlns:a16="http://schemas.microsoft.com/office/drawing/2014/main" id="{E66CA848-B094-4213-9143-27B218E733B9}"/>
              </a:ext>
            </a:extLst>
          </p:cNvPr>
          <p:cNvSpPr>
            <a:spLocks noGrp="1"/>
          </p:cNvSpPr>
          <p:nvPr/>
        </p:nvSpPr>
        <p:spPr>
          <a:xfrm>
            <a:off x="571500" y="3038475"/>
            <a:ext cx="5191125" cy="1371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Компания</a:t>
            </a:r>
          </a:p>
          <a:p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на то же событие</a:t>
            </a:r>
          </a:p>
        </p:txBody>
      </p:sp>
      <p:sp>
        <p:nvSpPr>
          <p:cNvPr id="4" name="t1-Персональная афиша&#10;и поиск к">
            <a:extLst>
              <a:ext uri="{FF2B5EF4-FFF2-40B4-BE49-F238E27FC236}">
                <a16:creationId xmlns:a16="http://schemas.microsoft.com/office/drawing/2014/main" id="{F82304CA-CAD4-4108-AC41-CC582431697D}"/>
              </a:ext>
            </a:extLst>
          </p:cNvPr>
          <p:cNvSpPr>
            <a:spLocks noGrp="1"/>
          </p:cNvSpPr>
          <p:nvPr/>
        </p:nvSpPr>
        <p:spPr>
          <a:xfrm>
            <a:off x="571500" y="4619625"/>
            <a:ext cx="4429125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D4D4E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D4D4E0"/>
                </a:solidFill>
                <a:latin typeface="DejaVu Sans"/>
                <a:ea typeface="DejaVu Sans"/>
                <a:cs typeface="DejaVu Sans"/>
              </a:rPr>
              <a:t>Персональная афиша</a:t>
            </a:r>
          </a:p>
          <a:p>
            <a:pPr>
              <a:defRPr sz="1875" b="0">
                <a:solidFill>
                  <a:srgbClr val="D4D4E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D4D4E0"/>
                </a:solidFill>
                <a:latin typeface="DejaVu Sans"/>
                <a:ea typeface="DejaVu Sans"/>
                <a:cs typeface="DejaVu Sans"/>
              </a:rPr>
              <a:t>и поиск компании</a:t>
            </a:r>
          </a:p>
          <a:p>
            <a:pPr>
              <a:defRPr sz="1875" b="0">
                <a:solidFill>
                  <a:srgbClr val="D4D4E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D4D4E0"/>
                </a:solidFill>
                <a:latin typeface="DejaVu Sans"/>
                <a:ea typeface="DejaVu Sans"/>
                <a:cs typeface="DejaVu Sans"/>
              </a:rPr>
              <a:t>в мессенджере MAX</a:t>
            </a:r>
          </a:p>
        </p:txBody>
      </p:sp>
      <p:sp>
        <p:nvSpPr>
          <p:cNvPr id="5" name="t1-Москва, 18+">
            <a:extLst>
              <a:ext uri="{FF2B5EF4-FFF2-40B4-BE49-F238E27FC236}">
                <a16:creationId xmlns:a16="http://schemas.microsoft.com/office/drawing/2014/main" id="{0D275D61-64FB-4E4C-9E7B-4A990F4C0B85}"/>
              </a:ext>
            </a:extLst>
          </p:cNvPr>
          <p:cNvSpPr>
            <a:spLocks noGrp="1"/>
          </p:cNvSpPr>
          <p:nvPr/>
        </p:nvSpPr>
        <p:spPr>
          <a:xfrm>
            <a:off x="571500" y="5819775"/>
            <a:ext cx="5619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FF668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6688"/>
                </a:solidFill>
                <a:latin typeface="DejaVu Sans"/>
                <a:ea typeface="DejaVu Sans"/>
                <a:cs typeface="DejaVu Sans"/>
              </a:rPr>
              <a:t>Москва, 18+</a:t>
            </a:r>
          </a:p>
        </p:txBody>
      </p:sp>
      <p:sp>
        <p:nvSpPr>
          <p:cNvPr id="6" name="t1-ДВИЖМАКС">
            <a:extLst>
              <a:ext uri="{FF2B5EF4-FFF2-40B4-BE49-F238E27FC236}">
                <a16:creationId xmlns:a16="http://schemas.microsoft.com/office/drawing/2014/main" id="{BAEE857B-471C-4586-9902-3F8C1148DA2A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2000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1">
                <a:solidFill>
                  <a:srgbClr val="A8ABC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A8ABC0"/>
                </a:solidFill>
                <a:latin typeface="DejaVu Sans"/>
                <a:ea typeface="DejaVu Sans"/>
                <a:cs typeface="DejaVu Sans"/>
              </a:rPr>
              <a:t>ДВИЖМАКС</a:t>
            </a:r>
          </a:p>
        </p:txBody>
      </p:sp>
      <p:sp>
        <p:nvSpPr>
          <p:cNvPr id="7" name="t1-Команда 110">
            <a:extLst>
              <a:ext uri="{FF2B5EF4-FFF2-40B4-BE49-F238E27FC236}">
                <a16:creationId xmlns:a16="http://schemas.microsoft.com/office/drawing/2014/main" id="{0A64296A-A64D-43E5-95FA-839773E022C8}"/>
              </a:ext>
            </a:extLst>
          </p:cNvPr>
          <p:cNvSpPr>
            <a:spLocks noGrp="1"/>
          </p:cNvSpPr>
          <p:nvPr/>
        </p:nvSpPr>
        <p:spPr>
          <a:xfrm>
            <a:off x="2266950" y="6448425"/>
            <a:ext cx="8743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A8ABC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 dirty="0" err="1">
                <a:solidFill>
                  <a:srgbClr val="A8ABC0"/>
                </a:solidFill>
                <a:latin typeface="DejaVu Sans"/>
                <a:ea typeface="DejaVu Sans"/>
                <a:cs typeface="DejaVu Sans"/>
              </a:rPr>
              <a:t>Команда</a:t>
            </a:r>
            <a:r>
              <a:rPr sz="1050" b="0" dirty="0">
                <a:solidFill>
                  <a:srgbClr val="A8ABC0"/>
                </a:solidFill>
                <a:latin typeface="DejaVu Sans"/>
                <a:ea typeface="DejaVu Sans"/>
                <a:cs typeface="DejaVu Sans"/>
              </a:rPr>
              <a:t> 110</a:t>
            </a:r>
          </a:p>
        </p:txBody>
      </p:sp>
      <p:sp>
        <p:nvSpPr>
          <p:cNvPr id="8" name="t1-02">
            <a:extLst>
              <a:ext uri="{FF2B5EF4-FFF2-40B4-BE49-F238E27FC236}">
                <a16:creationId xmlns:a16="http://schemas.microsoft.com/office/drawing/2014/main" id="{3CD50273-7C41-4001-86FB-D8AD450EDECE}"/>
              </a:ext>
            </a:extLst>
          </p:cNvPr>
          <p:cNvSpPr>
            <a:spLocks noGrp="1"/>
          </p:cNvSpPr>
          <p:nvPr/>
        </p:nvSpPr>
        <p:spPr>
          <a:xfrm>
            <a:off x="11268075" y="6429375"/>
            <a:ext cx="419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A8AB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8ABC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54611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2-ПРОБЛЕМА">
            <a:extLst>
              <a:ext uri="{FF2B5EF4-FFF2-40B4-BE49-F238E27FC236}">
                <a16:creationId xmlns:a16="http://schemas.microsoft.com/office/drawing/2014/main" id="{DD79B7E6-6E61-4AC8-9CA0-0CA9FFBC6A3F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10763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ПРОБЛЕМА</a:t>
            </a:r>
          </a:p>
        </p:txBody>
      </p:sp>
      <p:sp>
        <p:nvSpPr>
          <p:cNvPr id="2" name="t2-События пропускают, когда не">
            <a:extLst>
              <a:ext uri="{FF2B5EF4-FFF2-40B4-BE49-F238E27FC236}">
                <a16:creationId xmlns:a16="http://schemas.microsoft.com/office/drawing/2014/main" id="{F959CD4A-9DDB-4426-B051-62739DAC674A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11125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События пропускают, когда не с кем пойти</a:t>
            </a:r>
          </a:p>
        </p:txBody>
      </p:sp>
      <p:sp>
        <p:nvSpPr>
          <p:cNvPr id="3" name="t2-ДВИЖМАКС">
            <a:extLst>
              <a:ext uri="{FF2B5EF4-FFF2-40B4-BE49-F238E27FC236}">
                <a16:creationId xmlns:a16="http://schemas.microsoft.com/office/drawing/2014/main" id="{75155D54-714B-4E8B-ACCB-27FA25D4EA0D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2000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1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ДВИЖМАКС</a:t>
            </a:r>
          </a:p>
        </p:txBody>
      </p:sp>
      <p:sp>
        <p:nvSpPr>
          <p:cNvPr id="5" name="t2-03">
            <a:extLst>
              <a:ext uri="{FF2B5EF4-FFF2-40B4-BE49-F238E27FC236}">
                <a16:creationId xmlns:a16="http://schemas.microsoft.com/office/drawing/2014/main" id="{DF08887E-A7D2-4D26-93B4-2F173732E649}"/>
              </a:ext>
            </a:extLst>
          </p:cNvPr>
          <p:cNvSpPr>
            <a:spLocks noGrp="1"/>
          </p:cNvSpPr>
          <p:nvPr/>
        </p:nvSpPr>
        <p:spPr>
          <a:xfrm>
            <a:off x="11268075" y="6429375"/>
            <a:ext cx="419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6" name="t2-62,2%">
            <a:extLst>
              <a:ext uri="{FF2B5EF4-FFF2-40B4-BE49-F238E27FC236}">
                <a16:creationId xmlns:a16="http://schemas.microsoft.com/office/drawing/2014/main" id="{3ED1DB33-D7C9-4368-BFF0-534458004D2B}"/>
              </a:ext>
            </a:extLst>
          </p:cNvPr>
          <p:cNvSpPr>
            <a:spLocks noGrp="1"/>
          </p:cNvSpPr>
          <p:nvPr/>
        </p:nvSpPr>
        <p:spPr>
          <a:xfrm>
            <a:off x="533400" y="2057400"/>
            <a:ext cx="5981700" cy="1352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8100" b="1">
                <a:solidFill>
                  <a:srgbClr val="C8244F"/>
                </a:solidFill>
                <a:latin typeface="DejaVu Sans"/>
                <a:ea typeface="DejaVu Sans"/>
                <a:cs typeface="DejaVu Sans"/>
              </a:defRPr>
            </a:pPr>
            <a:r>
              <a:rPr sz="8100" b="1">
                <a:solidFill>
                  <a:srgbClr val="C8244F"/>
                </a:solidFill>
                <a:latin typeface="DejaVu Sans"/>
                <a:ea typeface="DejaVu Sans"/>
                <a:cs typeface="DejaVu Sans"/>
              </a:rPr>
              <a:t>62,2%</a:t>
            </a:r>
          </a:p>
        </p:txBody>
      </p:sp>
      <p:sp>
        <p:nvSpPr>
          <p:cNvPr id="7" name="t2-51 из 82 опрошенных">
            <a:extLst>
              <a:ext uri="{FF2B5EF4-FFF2-40B4-BE49-F238E27FC236}">
                <a16:creationId xmlns:a16="http://schemas.microsoft.com/office/drawing/2014/main" id="{6ADB1803-2B63-4BC1-8335-FD552A68EC72}"/>
              </a:ext>
            </a:extLst>
          </p:cNvPr>
          <p:cNvSpPr>
            <a:spLocks noGrp="1"/>
          </p:cNvSpPr>
          <p:nvPr/>
        </p:nvSpPr>
        <p:spPr>
          <a:xfrm>
            <a:off x="590550" y="3438525"/>
            <a:ext cx="5905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25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51 из 82 опрошенных</a:t>
            </a:r>
          </a:p>
        </p:txBody>
      </p:sp>
      <p:sp>
        <p:nvSpPr>
          <p:cNvPr id="8" name="t2-за последние 3 месяца хотя б">
            <a:extLst>
              <a:ext uri="{FF2B5EF4-FFF2-40B4-BE49-F238E27FC236}">
                <a16:creationId xmlns:a16="http://schemas.microsoft.com/office/drawing/2014/main" id="{76945DF9-AA70-435F-A8B1-DC53A6F23E71}"/>
              </a:ext>
            </a:extLst>
          </p:cNvPr>
          <p:cNvSpPr>
            <a:spLocks noGrp="1"/>
          </p:cNvSpPr>
          <p:nvPr/>
        </p:nvSpPr>
        <p:spPr>
          <a:xfrm>
            <a:off x="590550" y="4048125"/>
            <a:ext cx="64008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за последние 3 месяца хотя бы раз</a:t>
            </a:r>
          </a:p>
          <a:p>
            <a:pPr>
              <a:defRPr sz="187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не пошли на понравившееся событие</a:t>
            </a:r>
          </a:p>
          <a:p>
            <a:pPr>
              <a:defRPr sz="187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из-за отсутствия компании</a:t>
            </a:r>
          </a:p>
        </p:txBody>
      </p:sp>
      <p:sp>
        <p:nvSpPr>
          <p:cNvPr id="9" name="t2-41,5%">
            <a:extLst>
              <a:ext uri="{FF2B5EF4-FFF2-40B4-BE49-F238E27FC236}">
                <a16:creationId xmlns:a16="http://schemas.microsoft.com/office/drawing/2014/main" id="{C52EE61C-8A21-4247-BBFE-2C4508E3E8A0}"/>
              </a:ext>
            </a:extLst>
          </p:cNvPr>
          <p:cNvSpPr>
            <a:spLocks noGrp="1"/>
          </p:cNvSpPr>
          <p:nvPr/>
        </p:nvSpPr>
        <p:spPr>
          <a:xfrm>
            <a:off x="8153400" y="2009775"/>
            <a:ext cx="34671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500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41,5%</a:t>
            </a:r>
          </a:p>
        </p:txBody>
      </p:sp>
      <p:sp>
        <p:nvSpPr>
          <p:cNvPr id="10" name="t2-сталкивались с этим&#10;неоднокр">
            <a:extLst>
              <a:ext uri="{FF2B5EF4-FFF2-40B4-BE49-F238E27FC236}">
                <a16:creationId xmlns:a16="http://schemas.microsoft.com/office/drawing/2014/main" id="{CD3B992B-5D07-4772-98BB-2EBCD7CC1920}"/>
              </a:ext>
            </a:extLst>
          </p:cNvPr>
          <p:cNvSpPr>
            <a:spLocks noGrp="1"/>
          </p:cNvSpPr>
          <p:nvPr/>
        </p:nvSpPr>
        <p:spPr>
          <a:xfrm>
            <a:off x="8172450" y="2867025"/>
            <a:ext cx="32861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сталкивались с этим</a:t>
            </a:r>
          </a:p>
          <a:p>
            <a:pPr>
              <a:def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неоднократно: 34 из 82</a:t>
            </a:r>
          </a:p>
        </p:txBody>
      </p:sp>
      <p:sp>
        <p:nvSpPr>
          <p:cNvPr id="11" name="t2-7,3%">
            <a:extLst>
              <a:ext uri="{FF2B5EF4-FFF2-40B4-BE49-F238E27FC236}">
                <a16:creationId xmlns:a16="http://schemas.microsoft.com/office/drawing/2014/main" id="{8FC10CF4-FA28-41D2-A4AE-D7DD165A4312}"/>
              </a:ext>
            </a:extLst>
          </p:cNvPr>
          <p:cNvSpPr>
            <a:spLocks noGrp="1"/>
          </p:cNvSpPr>
          <p:nvPr/>
        </p:nvSpPr>
        <p:spPr>
          <a:xfrm>
            <a:off x="8153400" y="3943350"/>
            <a:ext cx="3333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500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7,3%</a:t>
            </a:r>
          </a:p>
        </p:txBody>
      </p:sp>
      <p:sp>
        <p:nvSpPr>
          <p:cNvPr id="12" name="t2-обычно ищут человека&#10;в чатах">
            <a:extLst>
              <a:ext uri="{FF2B5EF4-FFF2-40B4-BE49-F238E27FC236}">
                <a16:creationId xmlns:a16="http://schemas.microsoft.com/office/drawing/2014/main" id="{19F58E9F-3598-4D98-AED3-1F6D0096FBD7}"/>
              </a:ext>
            </a:extLst>
          </p:cNvPr>
          <p:cNvSpPr>
            <a:spLocks noGrp="1"/>
          </p:cNvSpPr>
          <p:nvPr/>
        </p:nvSpPr>
        <p:spPr>
          <a:xfrm>
            <a:off x="8172450" y="4810125"/>
            <a:ext cx="32670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обычно ищут человека</a:t>
            </a:r>
          </a:p>
          <a:p>
            <a:pPr>
              <a:def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в чатах: 6 из 82</a:t>
            </a:r>
          </a:p>
        </p:txBody>
      </p:sp>
      <p:sp>
        <p:nvSpPr>
          <p:cNvPr id="13" name="t2-В подвыборке 18+ проблема со">
            <a:extLst>
              <a:ext uri="{FF2B5EF4-FFF2-40B4-BE49-F238E27FC236}">
                <a16:creationId xmlns:a16="http://schemas.microsoft.com/office/drawing/2014/main" id="{2A0636D2-DD57-4EB0-A154-2CF9C9B52348}"/>
              </a:ext>
            </a:extLst>
          </p:cNvPr>
          <p:cNvSpPr>
            <a:spLocks noGrp="1"/>
          </p:cNvSpPr>
          <p:nvPr/>
        </p:nvSpPr>
        <p:spPr>
          <a:xfrm>
            <a:off x="590550" y="5791200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75" b="0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В подвыборке 18+ проблема сохраняется: 38 из 62 человек (61,3%).</a:t>
            </a:r>
          </a:p>
        </p:txBody>
      </p:sp>
    </p:spTree>
    <p:extLst>
      <p:ext uri="{BB962C8B-B14F-4D97-AF65-F5344CB8AC3E}">
        <p14:creationId xmlns:p14="http://schemas.microsoft.com/office/powerpoint/2010/main" val="1674544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3-ПРИОРИТЕТНЫЙ СЕГМЕНТ">
            <a:extLst>
              <a:ext uri="{FF2B5EF4-FFF2-40B4-BE49-F238E27FC236}">
                <a16:creationId xmlns:a16="http://schemas.microsoft.com/office/drawing/2014/main" id="{B58A287E-0BFB-4B6B-83F1-45B6303D717D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10763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dirty="0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ПРИОРИТЕТНЫЙ СЕГМЕНТ</a:t>
            </a:r>
          </a:p>
        </p:txBody>
      </p:sp>
      <p:sp>
        <p:nvSpPr>
          <p:cNvPr id="2" name="t3-Пользователь уже хочет пойти">
            <a:extLst>
              <a:ext uri="{FF2B5EF4-FFF2-40B4-BE49-F238E27FC236}">
                <a16:creationId xmlns:a16="http://schemas.microsoft.com/office/drawing/2014/main" id="{DD5FA2EA-B9B5-4550-A10E-A3EEE5F87637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11125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Пользователь уже хочет пойти</a:t>
            </a:r>
          </a:p>
        </p:txBody>
      </p:sp>
      <p:sp>
        <p:nvSpPr>
          <p:cNvPr id="3" name="t3-ДВИЖМАКС">
            <a:extLst>
              <a:ext uri="{FF2B5EF4-FFF2-40B4-BE49-F238E27FC236}">
                <a16:creationId xmlns:a16="http://schemas.microsoft.com/office/drawing/2014/main" id="{40C6412B-23C7-4353-A7A6-0A081A5FA609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2000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1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ДВИЖМАКС</a:t>
            </a:r>
          </a:p>
        </p:txBody>
      </p:sp>
      <p:sp>
        <p:nvSpPr>
          <p:cNvPr id="5" name="t3-04">
            <a:extLst>
              <a:ext uri="{FF2B5EF4-FFF2-40B4-BE49-F238E27FC236}">
                <a16:creationId xmlns:a16="http://schemas.microsoft.com/office/drawing/2014/main" id="{21BCE3EC-9193-488C-AA94-9D1998A85A61}"/>
              </a:ext>
            </a:extLst>
          </p:cNvPr>
          <p:cNvSpPr>
            <a:spLocks noGrp="1"/>
          </p:cNvSpPr>
          <p:nvPr/>
        </p:nvSpPr>
        <p:spPr>
          <a:xfrm>
            <a:off x="11268075" y="6429375"/>
            <a:ext cx="419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6" name="t3-«Все отказались,&#10;в соло идти">
            <a:extLst>
              <a:ext uri="{FF2B5EF4-FFF2-40B4-BE49-F238E27FC236}">
                <a16:creationId xmlns:a16="http://schemas.microsoft.com/office/drawing/2014/main" id="{68590877-4857-4275-B21A-37394CAE2E03}"/>
              </a:ext>
            </a:extLst>
          </p:cNvPr>
          <p:cNvSpPr>
            <a:spLocks noGrp="1"/>
          </p:cNvSpPr>
          <p:nvPr/>
        </p:nvSpPr>
        <p:spPr>
          <a:xfrm>
            <a:off x="533400" y="2143125"/>
            <a:ext cx="6667500" cy="1971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7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«Все отказались,</a:t>
            </a:r>
          </a:p>
          <a:p>
            <a:pPr>
              <a:defRPr sz="367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в соло идти</a:t>
            </a:r>
          </a:p>
          <a:p>
            <a:pPr>
              <a:defRPr sz="367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не захотелось»</a:t>
            </a:r>
          </a:p>
        </p:txBody>
      </p:sp>
      <p:sp>
        <p:nvSpPr>
          <p:cNvPr id="7" name="t3-Иван, интервью о несостоявше">
            <a:extLst>
              <a:ext uri="{FF2B5EF4-FFF2-40B4-BE49-F238E27FC236}">
                <a16:creationId xmlns:a16="http://schemas.microsoft.com/office/drawing/2014/main" id="{DC939F47-B3DA-4E32-A083-2F9AA7DBA8CC}"/>
              </a:ext>
            </a:extLst>
          </p:cNvPr>
          <p:cNvSpPr>
            <a:spLocks noGrp="1"/>
          </p:cNvSpPr>
          <p:nvPr/>
        </p:nvSpPr>
        <p:spPr>
          <a:xfrm>
            <a:off x="571500" y="4448175"/>
            <a:ext cx="62007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Иван, интервью о несостоявшемся</a:t>
            </a:r>
          </a:p>
          <a:p>
            <a:pPr>
              <a:defRPr sz="1725" b="0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походе на концерт</a:t>
            </a:r>
          </a:p>
        </p:txBody>
      </p:sp>
      <p:sp>
        <p:nvSpPr>
          <p:cNvPr id="8" name="t3-18–30 лет, Москва">
            <a:extLst>
              <a:ext uri="{FF2B5EF4-FFF2-40B4-BE49-F238E27FC236}">
                <a16:creationId xmlns:a16="http://schemas.microsoft.com/office/drawing/2014/main" id="{3AACEE02-2AC1-454A-AE92-53F6E7B39DD0}"/>
              </a:ext>
            </a:extLst>
          </p:cNvPr>
          <p:cNvSpPr>
            <a:spLocks noGrp="1"/>
          </p:cNvSpPr>
          <p:nvPr/>
        </p:nvSpPr>
        <p:spPr>
          <a:xfrm>
            <a:off x="7848600" y="2009775"/>
            <a:ext cx="376237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18–30 лет, Москва</a:t>
            </a:r>
          </a:p>
        </p:txBody>
      </p:sp>
      <p:sp>
        <p:nvSpPr>
          <p:cNvPr id="9" name="t3-Есть конкретное событие,&#10;кот">
            <a:extLst>
              <a:ext uri="{FF2B5EF4-FFF2-40B4-BE49-F238E27FC236}">
                <a16:creationId xmlns:a16="http://schemas.microsoft.com/office/drawing/2014/main" id="{A9BA4E4D-5C99-499F-BE9D-0278137A72F4}"/>
              </a:ext>
            </a:extLst>
          </p:cNvPr>
          <p:cNvSpPr>
            <a:spLocks noGrp="1"/>
          </p:cNvSpPr>
          <p:nvPr/>
        </p:nvSpPr>
        <p:spPr>
          <a:xfrm>
            <a:off x="7867650" y="3124200"/>
            <a:ext cx="37147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Есть конкретное событие,</a:t>
            </a:r>
          </a:p>
          <a:p>
            <a:pPr>
              <a:defRPr sz="187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которое жалко пропустить.</a:t>
            </a:r>
          </a:p>
        </p:txBody>
      </p:sp>
      <p:sp>
        <p:nvSpPr>
          <p:cNvPr id="10" name="t3-Знакомые не могут пойти.&#10;Одн">
            <a:extLst>
              <a:ext uri="{FF2B5EF4-FFF2-40B4-BE49-F238E27FC236}">
                <a16:creationId xmlns:a16="http://schemas.microsoft.com/office/drawing/2014/main" id="{047C27BD-ADC7-439B-8E2D-9A71D9475F2C}"/>
              </a:ext>
            </a:extLst>
          </p:cNvPr>
          <p:cNvSpPr>
            <a:spLocks noGrp="1"/>
          </p:cNvSpPr>
          <p:nvPr/>
        </p:nvSpPr>
        <p:spPr>
          <a:xfrm>
            <a:off x="7867650" y="4105275"/>
            <a:ext cx="372427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Знакомые не могут пойти.</a:t>
            </a:r>
          </a:p>
          <a:p>
            <a:pPr>
              <a:defRPr sz="187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Одному некомфортно.</a:t>
            </a:r>
          </a:p>
        </p:txBody>
      </p:sp>
      <p:sp>
        <p:nvSpPr>
          <p:cNvPr id="11" name="t3-Готов рассмотреть нового&#10;чел">
            <a:extLst>
              <a:ext uri="{FF2B5EF4-FFF2-40B4-BE49-F238E27FC236}">
                <a16:creationId xmlns:a16="http://schemas.microsoft.com/office/drawing/2014/main" id="{82065412-4D13-4CB2-AD7E-D61D86A74FB6}"/>
              </a:ext>
            </a:extLst>
          </p:cNvPr>
          <p:cNvSpPr>
            <a:spLocks noGrp="1"/>
          </p:cNvSpPr>
          <p:nvPr/>
        </p:nvSpPr>
        <p:spPr>
          <a:xfrm>
            <a:off x="7867650" y="5086350"/>
            <a:ext cx="37528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Готов рассмотреть нового</a:t>
            </a:r>
          </a:p>
          <a:p>
            <a:pPr>
              <a:defRPr sz="187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человека с понятным профилем.</a:t>
            </a:r>
          </a:p>
        </p:txBody>
      </p:sp>
    </p:spTree>
    <p:extLst>
      <p:ext uri="{BB962C8B-B14F-4D97-AF65-F5344CB8AC3E}">
        <p14:creationId xmlns:p14="http://schemas.microsoft.com/office/powerpoint/2010/main" val="36415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4-РЕШЕНИЕ">
            <a:extLst>
              <a:ext uri="{FF2B5EF4-FFF2-40B4-BE49-F238E27FC236}">
                <a16:creationId xmlns:a16="http://schemas.microsoft.com/office/drawing/2014/main" id="{BA084E64-7299-40DD-B61B-72D27A825482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10763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РЕШЕНИЕ</a:t>
            </a:r>
          </a:p>
        </p:txBody>
      </p:sp>
      <p:sp>
        <p:nvSpPr>
          <p:cNvPr id="2" name="t4-Поиск компании начинается с ">
            <a:extLst>
              <a:ext uri="{FF2B5EF4-FFF2-40B4-BE49-F238E27FC236}">
                <a16:creationId xmlns:a16="http://schemas.microsoft.com/office/drawing/2014/main" id="{B45967C9-9480-421D-9243-1441A6A4F9C2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11125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Поиск компании начинается с события</a:t>
            </a:r>
          </a:p>
        </p:txBody>
      </p:sp>
      <p:sp>
        <p:nvSpPr>
          <p:cNvPr id="3" name="t4-ДВИЖМАКС">
            <a:extLst>
              <a:ext uri="{FF2B5EF4-FFF2-40B4-BE49-F238E27FC236}">
                <a16:creationId xmlns:a16="http://schemas.microsoft.com/office/drawing/2014/main" id="{EEB508F1-BFC4-4619-9A23-A6B4C554EDE8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2000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1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ДВИЖМАКС</a:t>
            </a:r>
          </a:p>
        </p:txBody>
      </p:sp>
      <p:sp>
        <p:nvSpPr>
          <p:cNvPr id="4" name="t4-05">
            <a:extLst>
              <a:ext uri="{FF2B5EF4-FFF2-40B4-BE49-F238E27FC236}">
                <a16:creationId xmlns:a16="http://schemas.microsoft.com/office/drawing/2014/main" id="{9460BCEA-A49E-4DEF-8E4B-D1C107DF6C6E}"/>
              </a:ext>
            </a:extLst>
          </p:cNvPr>
          <p:cNvSpPr>
            <a:spLocks noGrp="1"/>
          </p:cNvSpPr>
          <p:nvPr/>
        </p:nvSpPr>
        <p:spPr>
          <a:xfrm>
            <a:off x="11268075" y="6429375"/>
            <a:ext cx="419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5" name="t4-01">
            <a:extLst>
              <a:ext uri="{FF2B5EF4-FFF2-40B4-BE49-F238E27FC236}">
                <a16:creationId xmlns:a16="http://schemas.microsoft.com/office/drawing/2014/main" id="{5E2A7BB7-4741-406A-8F3D-09B5F1B62C7A}"/>
              </a:ext>
            </a:extLst>
          </p:cNvPr>
          <p:cNvSpPr>
            <a:spLocks noGrp="1"/>
          </p:cNvSpPr>
          <p:nvPr/>
        </p:nvSpPr>
        <p:spPr>
          <a:xfrm>
            <a:off x="533400" y="2209800"/>
            <a:ext cx="2190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t4-Событие">
            <a:extLst>
              <a:ext uri="{FF2B5EF4-FFF2-40B4-BE49-F238E27FC236}">
                <a16:creationId xmlns:a16="http://schemas.microsoft.com/office/drawing/2014/main" id="{EA5FEA89-CA98-4D7C-A893-9A527BE8943E}"/>
              </a:ext>
            </a:extLst>
          </p:cNvPr>
          <p:cNvSpPr>
            <a:spLocks noGrp="1"/>
          </p:cNvSpPr>
          <p:nvPr/>
        </p:nvSpPr>
        <p:spPr>
          <a:xfrm>
            <a:off x="533400" y="3171825"/>
            <a:ext cx="24574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Событие</a:t>
            </a:r>
          </a:p>
        </p:txBody>
      </p:sp>
      <p:sp>
        <p:nvSpPr>
          <p:cNvPr id="7" name="t4-Персональная&#10;афиша Москвы">
            <a:extLst>
              <a:ext uri="{FF2B5EF4-FFF2-40B4-BE49-F238E27FC236}">
                <a16:creationId xmlns:a16="http://schemas.microsoft.com/office/drawing/2014/main" id="{F1E7E513-4E24-437D-999D-B44E36E5277E}"/>
              </a:ext>
            </a:extLst>
          </p:cNvPr>
          <p:cNvSpPr>
            <a:spLocks noGrp="1"/>
          </p:cNvSpPr>
          <p:nvPr/>
        </p:nvSpPr>
        <p:spPr>
          <a:xfrm>
            <a:off x="533400" y="3829050"/>
            <a:ext cx="249555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Персональная</a:t>
            </a:r>
          </a:p>
          <a:p>
            <a:pPr>
              <a:def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афиша Москвы</a:t>
            </a:r>
          </a:p>
        </p:txBody>
      </p:sp>
      <p:sp>
        <p:nvSpPr>
          <p:cNvPr id="8" name="t4-02">
            <a:extLst>
              <a:ext uri="{FF2B5EF4-FFF2-40B4-BE49-F238E27FC236}">
                <a16:creationId xmlns:a16="http://schemas.microsoft.com/office/drawing/2014/main" id="{F72C9420-8414-43CA-B071-809002346B4D}"/>
              </a:ext>
            </a:extLst>
          </p:cNvPr>
          <p:cNvSpPr>
            <a:spLocks noGrp="1"/>
          </p:cNvSpPr>
          <p:nvPr/>
        </p:nvSpPr>
        <p:spPr>
          <a:xfrm>
            <a:off x="3400425" y="2209800"/>
            <a:ext cx="2190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t4-Намерение">
            <a:extLst>
              <a:ext uri="{FF2B5EF4-FFF2-40B4-BE49-F238E27FC236}">
                <a16:creationId xmlns:a16="http://schemas.microsoft.com/office/drawing/2014/main" id="{47B89CA8-9C29-4EE6-9CD7-EC9603605216}"/>
              </a:ext>
            </a:extLst>
          </p:cNvPr>
          <p:cNvSpPr>
            <a:spLocks noGrp="1"/>
          </p:cNvSpPr>
          <p:nvPr/>
        </p:nvSpPr>
        <p:spPr>
          <a:xfrm>
            <a:off x="3400425" y="3171825"/>
            <a:ext cx="24574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Намерение</a:t>
            </a:r>
          </a:p>
        </p:txBody>
      </p:sp>
      <p:sp>
        <p:nvSpPr>
          <p:cNvPr id="10" name="t4-«Хочу пойти»&#10;сохраняет план">
            <a:extLst>
              <a:ext uri="{FF2B5EF4-FFF2-40B4-BE49-F238E27FC236}">
                <a16:creationId xmlns:a16="http://schemas.microsoft.com/office/drawing/2014/main" id="{B2DB0E56-CC21-4C15-8820-C293F140F096}"/>
              </a:ext>
            </a:extLst>
          </p:cNvPr>
          <p:cNvSpPr>
            <a:spLocks noGrp="1"/>
          </p:cNvSpPr>
          <p:nvPr/>
        </p:nvSpPr>
        <p:spPr>
          <a:xfrm>
            <a:off x="3400425" y="3829050"/>
            <a:ext cx="249555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«</a:t>
            </a:r>
            <a:r>
              <a:rPr sz="172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Хочу</a:t>
            </a:r>
            <a:r>
              <a:rPr sz="172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пойти</a:t>
            </a:r>
            <a:r>
              <a:rPr sz="172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»</a:t>
            </a:r>
          </a:p>
          <a:p>
            <a:pPr>
              <a:def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72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сохраняет план</a:t>
            </a:r>
            <a:endParaRPr sz="1725" b="0" dirty="0">
              <a:solidFill>
                <a:srgbClr val="100C1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1" name="t4-03">
            <a:extLst>
              <a:ext uri="{FF2B5EF4-FFF2-40B4-BE49-F238E27FC236}">
                <a16:creationId xmlns:a16="http://schemas.microsoft.com/office/drawing/2014/main" id="{34030BEE-9CE6-4158-BC39-DCB893C4FEA7}"/>
              </a:ext>
            </a:extLst>
          </p:cNvPr>
          <p:cNvSpPr>
            <a:spLocks noGrp="1"/>
          </p:cNvSpPr>
          <p:nvPr/>
        </p:nvSpPr>
        <p:spPr>
          <a:xfrm>
            <a:off x="6267450" y="2209800"/>
            <a:ext cx="2190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2" name="t4-Человек">
            <a:extLst>
              <a:ext uri="{FF2B5EF4-FFF2-40B4-BE49-F238E27FC236}">
                <a16:creationId xmlns:a16="http://schemas.microsoft.com/office/drawing/2014/main" id="{0E4F4D50-30B8-44CA-A533-8DF47B8687AE}"/>
              </a:ext>
            </a:extLst>
          </p:cNvPr>
          <p:cNvSpPr>
            <a:spLocks noGrp="1"/>
          </p:cNvSpPr>
          <p:nvPr/>
        </p:nvSpPr>
        <p:spPr>
          <a:xfrm>
            <a:off x="6267450" y="3171825"/>
            <a:ext cx="24574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Человек</a:t>
            </a:r>
          </a:p>
        </p:txBody>
      </p:sp>
      <p:sp>
        <p:nvSpPr>
          <p:cNvPr id="13" name="t4-Анкеты желающих&#10;на то же соб">
            <a:extLst>
              <a:ext uri="{FF2B5EF4-FFF2-40B4-BE49-F238E27FC236}">
                <a16:creationId xmlns:a16="http://schemas.microsoft.com/office/drawing/2014/main" id="{172DAB9C-6606-4D86-8C1E-8F5CB9D16EC0}"/>
              </a:ext>
            </a:extLst>
          </p:cNvPr>
          <p:cNvSpPr>
            <a:spLocks noGrp="1"/>
          </p:cNvSpPr>
          <p:nvPr/>
        </p:nvSpPr>
        <p:spPr>
          <a:xfrm>
            <a:off x="6267450" y="3829050"/>
            <a:ext cx="249555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Анкеты желающих</a:t>
            </a:r>
          </a:p>
          <a:p>
            <a:pPr>
              <a:def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на то же событие</a:t>
            </a:r>
          </a:p>
        </p:txBody>
      </p:sp>
      <p:sp>
        <p:nvSpPr>
          <p:cNvPr id="14" name="t4-04">
            <a:extLst>
              <a:ext uri="{FF2B5EF4-FFF2-40B4-BE49-F238E27FC236}">
                <a16:creationId xmlns:a16="http://schemas.microsoft.com/office/drawing/2014/main" id="{D47B7DDC-ADA1-4707-B2CA-5451F0DCB5EA}"/>
              </a:ext>
            </a:extLst>
          </p:cNvPr>
          <p:cNvSpPr>
            <a:spLocks noGrp="1"/>
          </p:cNvSpPr>
          <p:nvPr/>
        </p:nvSpPr>
        <p:spPr>
          <a:xfrm>
            <a:off x="9134475" y="2209800"/>
            <a:ext cx="2190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5" name="t4-Контакт">
            <a:extLst>
              <a:ext uri="{FF2B5EF4-FFF2-40B4-BE49-F238E27FC236}">
                <a16:creationId xmlns:a16="http://schemas.microsoft.com/office/drawing/2014/main" id="{3E4C5B47-D3A4-404D-9E40-C4EE5F7C9AD3}"/>
              </a:ext>
            </a:extLst>
          </p:cNvPr>
          <p:cNvSpPr>
            <a:spLocks noGrp="1"/>
          </p:cNvSpPr>
          <p:nvPr/>
        </p:nvSpPr>
        <p:spPr>
          <a:xfrm>
            <a:off x="9134475" y="3171825"/>
            <a:ext cx="24574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Контакт</a:t>
            </a:r>
          </a:p>
        </p:txBody>
      </p:sp>
      <p:sp>
        <p:nvSpPr>
          <p:cNvPr id="16" name="t4-Взаимный лайк&#10;и подтверждени">
            <a:extLst>
              <a:ext uri="{FF2B5EF4-FFF2-40B4-BE49-F238E27FC236}">
                <a16:creationId xmlns:a16="http://schemas.microsoft.com/office/drawing/2014/main" id="{3E6E5E48-992A-4DA8-B367-D65A7AB2E7B9}"/>
              </a:ext>
            </a:extLst>
          </p:cNvPr>
          <p:cNvSpPr>
            <a:spLocks noGrp="1"/>
          </p:cNvSpPr>
          <p:nvPr/>
        </p:nvSpPr>
        <p:spPr>
          <a:xfrm>
            <a:off x="9134475" y="3829050"/>
            <a:ext cx="249555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Взаимный лайк</a:t>
            </a:r>
          </a:p>
          <a:p>
            <a:pPr>
              <a:def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и подтверждение</a:t>
            </a:r>
          </a:p>
        </p:txBody>
      </p:sp>
      <p:sp>
        <p:nvSpPr>
          <p:cNvPr id="17" name="t4-Общий повод для встречи уже ">
            <a:extLst>
              <a:ext uri="{FF2B5EF4-FFF2-40B4-BE49-F238E27FC236}">
                <a16:creationId xmlns:a16="http://schemas.microsoft.com/office/drawing/2014/main" id="{EB33E142-A596-4EAD-B08E-A71D85535829}"/>
              </a:ext>
            </a:extLst>
          </p:cNvPr>
          <p:cNvSpPr>
            <a:spLocks noGrp="1"/>
          </p:cNvSpPr>
          <p:nvPr/>
        </p:nvSpPr>
        <p:spPr>
          <a:xfrm>
            <a:off x="533400" y="528637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77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Общий повод для встречи уже есть</a:t>
            </a:r>
          </a:p>
        </p:txBody>
      </p:sp>
      <p:sp>
        <p:nvSpPr>
          <p:cNvPr id="18" name="t4-Сегодня пользователь пересыл">
            <a:extLst>
              <a:ext uri="{FF2B5EF4-FFF2-40B4-BE49-F238E27FC236}">
                <a16:creationId xmlns:a16="http://schemas.microsoft.com/office/drawing/2014/main" id="{619F33C3-BAE9-43AA-B126-C054A9C08DE1}"/>
              </a:ext>
            </a:extLst>
          </p:cNvPr>
          <p:cNvSpPr>
            <a:spLocks noGrp="1"/>
          </p:cNvSpPr>
          <p:nvPr/>
        </p:nvSpPr>
        <p:spPr>
          <a:xfrm>
            <a:off x="533400" y="5895975"/>
            <a:ext cx="10858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75" b="0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dirty="0" err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Сегодня</a:t>
            </a:r>
            <a:r>
              <a:rPr sz="1575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dirty="0" err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пользователь</a:t>
            </a:r>
            <a:r>
              <a:rPr sz="1575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dirty="0" err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пересылает</a:t>
            </a:r>
            <a:r>
              <a:rPr sz="1575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dirty="0" err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анонс</a:t>
            </a:r>
            <a:r>
              <a:rPr sz="1575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dirty="0" err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знакомым</a:t>
            </a:r>
            <a:r>
              <a:rPr sz="1575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. </a:t>
            </a:r>
            <a:r>
              <a:rPr sz="1575" b="0" dirty="0" err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ДвижМАКС</a:t>
            </a:r>
            <a:r>
              <a:rPr sz="1575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dirty="0" err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показывает</a:t>
            </a:r>
            <a:r>
              <a:rPr sz="1575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dirty="0" err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людей</a:t>
            </a:r>
            <a:r>
              <a:rPr sz="1575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dirty="0" err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с</a:t>
            </a:r>
            <a:r>
              <a:rPr sz="1575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dirty="0" err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тем</a:t>
            </a:r>
            <a:r>
              <a:rPr sz="1575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dirty="0" err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же</a:t>
            </a:r>
            <a:r>
              <a:rPr sz="1575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dirty="0" err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планом</a:t>
            </a:r>
            <a:r>
              <a:rPr sz="1575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9270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5-КОНКУРЕНТНОЕ ОТЛИЧИЕ">
            <a:extLst>
              <a:ext uri="{FF2B5EF4-FFF2-40B4-BE49-F238E27FC236}">
                <a16:creationId xmlns:a16="http://schemas.microsoft.com/office/drawing/2014/main" id="{A3CD7B85-31FC-408E-B211-2AF22C74E42E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10763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КОНКУРЕНТНОЕ ОТЛИЧИЕ</a:t>
            </a:r>
          </a:p>
        </p:txBody>
      </p:sp>
      <p:sp>
        <p:nvSpPr>
          <p:cNvPr id="2" name="t5-Компания привязана к выбранн">
            <a:extLst>
              <a:ext uri="{FF2B5EF4-FFF2-40B4-BE49-F238E27FC236}">
                <a16:creationId xmlns:a16="http://schemas.microsoft.com/office/drawing/2014/main" id="{06D4A3C5-1A2D-48E5-8A5C-E11EDE535A0A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11125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Компания привязана к выбранному событию</a:t>
            </a:r>
          </a:p>
        </p:txBody>
      </p:sp>
      <p:sp>
        <p:nvSpPr>
          <p:cNvPr id="3" name="t5-ДВИЖМАКС">
            <a:extLst>
              <a:ext uri="{FF2B5EF4-FFF2-40B4-BE49-F238E27FC236}">
                <a16:creationId xmlns:a16="http://schemas.microsoft.com/office/drawing/2014/main" id="{166750FD-1A4B-4F74-8DB3-991D13999978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2000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1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ДВИЖМАКС</a:t>
            </a:r>
          </a:p>
        </p:txBody>
      </p:sp>
      <p:sp>
        <p:nvSpPr>
          <p:cNvPr id="5" name="t5-06">
            <a:extLst>
              <a:ext uri="{FF2B5EF4-FFF2-40B4-BE49-F238E27FC236}">
                <a16:creationId xmlns:a16="http://schemas.microsoft.com/office/drawing/2014/main" id="{227BAD53-8FA7-422A-8EA9-A6D79B4EA640}"/>
              </a:ext>
            </a:extLst>
          </p:cNvPr>
          <p:cNvSpPr>
            <a:spLocks noGrp="1"/>
          </p:cNvSpPr>
          <p:nvPr/>
        </p:nvSpPr>
        <p:spPr>
          <a:xfrm>
            <a:off x="11268075" y="6429375"/>
            <a:ext cx="419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graphicFrame>
        <p:nvGraphicFramePr>
          <p:cNvPr id="13" name="Table 12"/>
          <p:cNvGraphicFramePr/>
          <p:nvPr/>
        </p:nvGraphicFramePr>
        <p:xfrm>
          <a:off x="533400" y="2009775"/>
          <a:ext cx="11125200" cy="3314700"/>
        </p:xfrm>
        <a:graphic>
          <a:graphicData uri="http://schemas.openxmlformats.org/drawingml/2006/table">
            <a:tbl>
              <a:tblPr firstRow="1"/>
              <a:tblGrid>
                <a:gridCol w="265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6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538D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Сценарий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ED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538D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Примеры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ED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538D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Что получает пользователь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ED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Найти событие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GIGSBOT · Weekendy</a:t>
                      </a:r>
                    </a:p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Госуслуги Культура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Каталог и подбор;</a:t>
                      </a:r>
                    </a:p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у GIGSBOT — подписки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Поделиться идеей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Backroom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Карточка нового места</a:t>
                      </a:r>
                    </a:p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или события для друзей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Найти компанию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ДвижМАКС — текущий MVP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Люди с тем же планом →</a:t>
                      </a:r>
                    </a:p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мэтч → добровольный контакт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5-Фокус ДвижМАКС — новые знако">
            <a:extLst>
              <a:ext uri="{FF2B5EF4-FFF2-40B4-BE49-F238E27FC236}">
                <a16:creationId xmlns:a16="http://schemas.microsoft.com/office/drawing/2014/main" id="{4B9B719E-CE18-4451-835D-8AEACECC7060}"/>
              </a:ext>
            </a:extLst>
          </p:cNvPr>
          <p:cNvSpPr>
            <a:spLocks noGrp="1"/>
          </p:cNvSpPr>
          <p:nvPr/>
        </p:nvSpPr>
        <p:spPr>
          <a:xfrm>
            <a:off x="533400" y="5610225"/>
            <a:ext cx="109061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Фокус ДвижМАКС — новые знакомые</a:t>
            </a:r>
          </a:p>
          <a:p>
            <a:pPr>
              <a:defRPr sz="217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с намерением пойти на то же событие.</a:t>
            </a:r>
          </a:p>
        </p:txBody>
      </p:sp>
    </p:spTree>
    <p:extLst>
      <p:ext uri="{BB962C8B-B14F-4D97-AF65-F5344CB8AC3E}">
        <p14:creationId xmlns:p14="http://schemas.microsoft.com/office/powerpoint/2010/main" val="1790899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6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6-ПОЛЬЗОВАТЕЛЬСКИЙ ПУТЬ">
            <a:extLst>
              <a:ext uri="{FF2B5EF4-FFF2-40B4-BE49-F238E27FC236}">
                <a16:creationId xmlns:a16="http://schemas.microsoft.com/office/drawing/2014/main" id="{9AF33ADB-D2D6-4520-BCA9-3CF15450930E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10763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1">
                <a:solidFill>
                  <a:srgbClr val="BB99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B99FF"/>
                </a:solidFill>
                <a:latin typeface="DejaVu Sans"/>
                <a:ea typeface="DejaVu Sans"/>
                <a:cs typeface="DejaVu Sans"/>
              </a:rPr>
              <a:t>ПОЛЬЗОВАТЕЛЬСКИЙ ПУТЬ</a:t>
            </a:r>
          </a:p>
        </p:txBody>
      </p:sp>
      <p:sp>
        <p:nvSpPr>
          <p:cNvPr id="2" name="t6-Афиша и поиск компании внутр">
            <a:extLst>
              <a:ext uri="{FF2B5EF4-FFF2-40B4-BE49-F238E27FC236}">
                <a16:creationId xmlns:a16="http://schemas.microsoft.com/office/drawing/2014/main" id="{66C61726-45D2-43E2-9462-303E6281123C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11125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Афиша и поиск компании внутри MAX</a:t>
            </a:r>
          </a:p>
        </p:txBody>
      </p:sp>
      <p:sp>
        <p:nvSpPr>
          <p:cNvPr id="3" name="t6-ДВИЖМАКС">
            <a:extLst>
              <a:ext uri="{FF2B5EF4-FFF2-40B4-BE49-F238E27FC236}">
                <a16:creationId xmlns:a16="http://schemas.microsoft.com/office/drawing/2014/main" id="{3D624978-42B6-4235-9808-7548BED945BD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2000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1">
                <a:solidFill>
                  <a:srgbClr val="A8ABC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A8ABC0"/>
                </a:solidFill>
                <a:latin typeface="DejaVu Sans"/>
                <a:ea typeface="DejaVu Sans"/>
                <a:cs typeface="DejaVu Sans"/>
              </a:rPr>
              <a:t>ДВИЖМАКС</a:t>
            </a:r>
          </a:p>
        </p:txBody>
      </p:sp>
      <p:sp>
        <p:nvSpPr>
          <p:cNvPr id="5" name="t6-07">
            <a:extLst>
              <a:ext uri="{FF2B5EF4-FFF2-40B4-BE49-F238E27FC236}">
                <a16:creationId xmlns:a16="http://schemas.microsoft.com/office/drawing/2014/main" id="{49A44D0A-8A27-499E-91C9-3FBE2A84A2FF}"/>
              </a:ext>
            </a:extLst>
          </p:cNvPr>
          <p:cNvSpPr>
            <a:spLocks noGrp="1"/>
          </p:cNvSpPr>
          <p:nvPr/>
        </p:nvSpPr>
        <p:spPr>
          <a:xfrm>
            <a:off x="11268075" y="6429375"/>
            <a:ext cx="419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A8AB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8ABC0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rcRect l="1300" t="15000" r="12000" b="27300"/>
          <a:stretch/>
        </p:blipFill>
        <p:spPr>
          <a:xfrm>
            <a:off x="533400" y="1981200"/>
            <a:ext cx="2686050" cy="38862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rcRect l="1300" t="24400" r="19100" b="27900"/>
          <a:stretch/>
        </p:blipFill>
        <p:spPr>
          <a:xfrm>
            <a:off x="3790950" y="2371725"/>
            <a:ext cx="2686050" cy="3495675"/>
          </a:xfrm>
          <a:prstGeom prst="rect">
            <a:avLst/>
          </a:prstGeom>
        </p:spPr>
      </p:pic>
      <p:sp>
        <p:nvSpPr>
          <p:cNvPr id="8" name="t6-01  Выбрать событие">
            <a:extLst>
              <a:ext uri="{FF2B5EF4-FFF2-40B4-BE49-F238E27FC236}">
                <a16:creationId xmlns:a16="http://schemas.microsoft.com/office/drawing/2014/main" id="{7ADE76C0-F6C1-40F2-A2EE-D43BCF584D90}"/>
              </a:ext>
            </a:extLst>
          </p:cNvPr>
          <p:cNvSpPr>
            <a:spLocks noGrp="1"/>
          </p:cNvSpPr>
          <p:nvPr/>
        </p:nvSpPr>
        <p:spPr>
          <a:xfrm>
            <a:off x="533400" y="5943600"/>
            <a:ext cx="30956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1">
                <a:solidFill>
                  <a:srgbClr val="BB99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BB99FF"/>
                </a:solidFill>
                <a:latin typeface="DejaVu Sans"/>
                <a:ea typeface="DejaVu Sans"/>
                <a:cs typeface="DejaVu Sans"/>
              </a:rPr>
              <a:t>01  Выбрать событие</a:t>
            </a:r>
          </a:p>
        </p:txBody>
      </p:sp>
      <p:sp>
        <p:nvSpPr>
          <p:cNvPr id="9" name="t6-02  Открыть анкету">
            <a:extLst>
              <a:ext uri="{FF2B5EF4-FFF2-40B4-BE49-F238E27FC236}">
                <a16:creationId xmlns:a16="http://schemas.microsoft.com/office/drawing/2014/main" id="{D848F4B6-451C-4418-9C72-141CEEC52EF6}"/>
              </a:ext>
            </a:extLst>
          </p:cNvPr>
          <p:cNvSpPr>
            <a:spLocks noGrp="1"/>
          </p:cNvSpPr>
          <p:nvPr/>
        </p:nvSpPr>
        <p:spPr>
          <a:xfrm>
            <a:off x="3790950" y="5943600"/>
            <a:ext cx="30861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1">
                <a:solidFill>
                  <a:srgbClr val="BB99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dirty="0">
                <a:solidFill>
                  <a:srgbClr val="BB99FF"/>
                </a:solidFill>
                <a:latin typeface="DejaVu Sans"/>
                <a:ea typeface="DejaVu Sans"/>
                <a:cs typeface="DejaVu Sans"/>
              </a:rPr>
              <a:t>02  </a:t>
            </a:r>
            <a:r>
              <a:rPr sz="1500" b="1" dirty="0" err="1">
                <a:solidFill>
                  <a:srgbClr val="BB99FF"/>
                </a:solidFill>
                <a:latin typeface="DejaVu Sans"/>
                <a:ea typeface="DejaVu Sans"/>
                <a:cs typeface="DejaVu Sans"/>
              </a:rPr>
              <a:t>Открыть</a:t>
            </a:r>
            <a:r>
              <a:rPr sz="1500" b="1" dirty="0">
                <a:solidFill>
                  <a:srgbClr val="BB99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00" b="1" dirty="0" err="1">
                <a:solidFill>
                  <a:srgbClr val="BB99FF"/>
                </a:solidFill>
                <a:latin typeface="DejaVu Sans"/>
                <a:ea typeface="DejaVu Sans"/>
                <a:cs typeface="DejaVu Sans"/>
              </a:rPr>
              <a:t>анкету</a:t>
            </a:r>
            <a:endParaRPr sz="1500" b="1" dirty="0">
              <a:solidFill>
                <a:srgbClr val="BB99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" name="t6-«Хочу пойти»">
            <a:extLst>
              <a:ext uri="{FF2B5EF4-FFF2-40B4-BE49-F238E27FC236}">
                <a16:creationId xmlns:a16="http://schemas.microsoft.com/office/drawing/2014/main" id="{E4312056-304C-4BF1-B706-9BA829B52EF9}"/>
              </a:ext>
            </a:extLst>
          </p:cNvPr>
          <p:cNvSpPr>
            <a:spLocks noGrp="1"/>
          </p:cNvSpPr>
          <p:nvPr/>
        </p:nvSpPr>
        <p:spPr>
          <a:xfrm>
            <a:off x="7419975" y="2171700"/>
            <a:ext cx="41243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«Хочу пойти»</a:t>
            </a:r>
          </a:p>
        </p:txBody>
      </p:sp>
      <p:sp>
        <p:nvSpPr>
          <p:cNvPr id="11" name="t6-Сохраняет событие&#10;в «Мои пла">
            <a:extLst>
              <a:ext uri="{FF2B5EF4-FFF2-40B4-BE49-F238E27FC236}">
                <a16:creationId xmlns:a16="http://schemas.microsoft.com/office/drawing/2014/main" id="{45725C03-47C9-47C9-AE8F-A46B777C44B7}"/>
              </a:ext>
            </a:extLst>
          </p:cNvPr>
          <p:cNvSpPr>
            <a:spLocks noGrp="1"/>
          </p:cNvSpPr>
          <p:nvPr/>
        </p:nvSpPr>
        <p:spPr>
          <a:xfrm>
            <a:off x="7439025" y="2886075"/>
            <a:ext cx="38290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D4D4E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D4D4E0"/>
                </a:solidFill>
                <a:latin typeface="DejaVu Sans"/>
                <a:ea typeface="DejaVu Sans"/>
                <a:cs typeface="DejaVu Sans"/>
              </a:rPr>
              <a:t>Сохраняет событие</a:t>
            </a:r>
          </a:p>
          <a:p>
            <a:pPr>
              <a:defRPr sz="1875" b="0">
                <a:solidFill>
                  <a:srgbClr val="D4D4E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D4D4E0"/>
                </a:solidFill>
                <a:latin typeface="DejaVu Sans"/>
                <a:ea typeface="DejaVu Sans"/>
                <a:cs typeface="DejaVu Sans"/>
              </a:rPr>
              <a:t>в «Мои планы».</a:t>
            </a:r>
          </a:p>
        </p:txBody>
      </p:sp>
      <p:sp>
        <p:nvSpPr>
          <p:cNvPr id="12" name="t6-«Пойти вместе»">
            <a:extLst>
              <a:ext uri="{FF2B5EF4-FFF2-40B4-BE49-F238E27FC236}">
                <a16:creationId xmlns:a16="http://schemas.microsoft.com/office/drawing/2014/main" id="{8D16E377-4DD6-4509-A51C-DEF0223240EA}"/>
              </a:ext>
            </a:extLst>
          </p:cNvPr>
          <p:cNvSpPr>
            <a:spLocks noGrp="1"/>
          </p:cNvSpPr>
          <p:nvPr/>
        </p:nvSpPr>
        <p:spPr>
          <a:xfrm>
            <a:off x="7419975" y="4000500"/>
            <a:ext cx="4191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«Пойти вместе»</a:t>
            </a:r>
          </a:p>
        </p:txBody>
      </p:sp>
      <p:sp>
        <p:nvSpPr>
          <p:cNvPr id="13" name="t6-Выражает интерес к человеку.">
            <a:extLst>
              <a:ext uri="{FF2B5EF4-FFF2-40B4-BE49-F238E27FC236}">
                <a16:creationId xmlns:a16="http://schemas.microsoft.com/office/drawing/2014/main" id="{17ABA8A6-E82D-4EE0-AD04-F58855C3263C}"/>
              </a:ext>
            </a:extLst>
          </p:cNvPr>
          <p:cNvSpPr>
            <a:spLocks noGrp="1"/>
          </p:cNvSpPr>
          <p:nvPr/>
        </p:nvSpPr>
        <p:spPr>
          <a:xfrm>
            <a:off x="7439025" y="4752975"/>
            <a:ext cx="3952875" cy="1076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D4D4E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D4D4E0"/>
                </a:solidFill>
                <a:latin typeface="DejaVu Sans"/>
                <a:ea typeface="DejaVu Sans"/>
                <a:cs typeface="DejaVu Sans"/>
              </a:rPr>
              <a:t>Выражает интерес к человеку.</a:t>
            </a:r>
          </a:p>
          <a:p>
            <a:pPr>
              <a:defRPr sz="1875" b="0">
                <a:solidFill>
                  <a:srgbClr val="D4D4E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D4D4E0"/>
                </a:solidFill>
                <a:latin typeface="DejaVu Sans"/>
                <a:ea typeface="DejaVu Sans"/>
                <a:cs typeface="DejaVu Sans"/>
              </a:rPr>
              <a:t>Мэтч появится при взаимности.</a:t>
            </a:r>
          </a:p>
        </p:txBody>
      </p:sp>
    </p:spTree>
    <p:extLst>
      <p:ext uri="{BB962C8B-B14F-4D97-AF65-F5344CB8AC3E}">
        <p14:creationId xmlns:p14="http://schemas.microsoft.com/office/powerpoint/2010/main" val="286710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7-МЭТЧ И СОГЛАСИЕ">
            <a:extLst>
              <a:ext uri="{FF2B5EF4-FFF2-40B4-BE49-F238E27FC236}">
                <a16:creationId xmlns:a16="http://schemas.microsoft.com/office/drawing/2014/main" id="{7EBB181A-9B17-4C38-8662-6B907A8095E1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10763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МЭТЧ И СОГЛАСИЕ</a:t>
            </a:r>
          </a:p>
        </p:txBody>
      </p:sp>
      <p:sp>
        <p:nvSpPr>
          <p:cNvPr id="2" name="t7-Каждый сам решает, каким кон">
            <a:extLst>
              <a:ext uri="{FF2B5EF4-FFF2-40B4-BE49-F238E27FC236}">
                <a16:creationId xmlns:a16="http://schemas.microsoft.com/office/drawing/2014/main" id="{B4FAC734-E079-4B44-A42B-C2CE38FF483C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11125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3300" b="1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Обмен контактами между двумя пользователями</a:t>
            </a:r>
            <a:r>
              <a:rPr lang="en-US" sz="3300" b="1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:</a:t>
            </a:r>
            <a:endParaRPr sz="3300" b="1" dirty="0">
              <a:solidFill>
                <a:srgbClr val="100C1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t7-ДВИЖМАКС">
            <a:extLst>
              <a:ext uri="{FF2B5EF4-FFF2-40B4-BE49-F238E27FC236}">
                <a16:creationId xmlns:a16="http://schemas.microsoft.com/office/drawing/2014/main" id="{6152EDF7-CECC-4B5F-B3FF-F1F3D184932F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2000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1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ДВИЖМАКС</a:t>
            </a:r>
          </a:p>
        </p:txBody>
      </p:sp>
      <p:sp>
        <p:nvSpPr>
          <p:cNvPr id="5" name="t7-08">
            <a:extLst>
              <a:ext uri="{FF2B5EF4-FFF2-40B4-BE49-F238E27FC236}">
                <a16:creationId xmlns:a16="http://schemas.microsoft.com/office/drawing/2014/main" id="{51293978-B238-4B79-AB9E-9FC5CA3CFF4F}"/>
              </a:ext>
            </a:extLst>
          </p:cNvPr>
          <p:cNvSpPr>
            <a:spLocks noGrp="1"/>
          </p:cNvSpPr>
          <p:nvPr/>
        </p:nvSpPr>
        <p:spPr>
          <a:xfrm>
            <a:off x="11268075" y="6429375"/>
            <a:ext cx="419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rcRect l="1300" t="47200" r="12300" b="27700"/>
          <a:stretch/>
        </p:blipFill>
        <p:spPr>
          <a:xfrm>
            <a:off x="952500" y="2152720"/>
            <a:ext cx="3681277" cy="2322463"/>
          </a:xfrm>
          <a:prstGeom prst="rect">
            <a:avLst/>
          </a:prstGeom>
        </p:spPr>
      </p:pic>
      <p:sp>
        <p:nvSpPr>
          <p:cNvPr id="8" name="t7-01  Взаимный интерес">
            <a:extLst>
              <a:ext uri="{FF2B5EF4-FFF2-40B4-BE49-F238E27FC236}">
                <a16:creationId xmlns:a16="http://schemas.microsoft.com/office/drawing/2014/main" id="{83EB7FE0-518F-4487-AA3C-7C3EFC21B843}"/>
              </a:ext>
            </a:extLst>
          </p:cNvPr>
          <p:cNvSpPr>
            <a:spLocks noGrp="1"/>
          </p:cNvSpPr>
          <p:nvPr/>
        </p:nvSpPr>
        <p:spPr>
          <a:xfrm>
            <a:off x="952500" y="4509338"/>
            <a:ext cx="514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dirty="0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01  </a:t>
            </a:r>
            <a:r>
              <a:rPr sz="2100" b="1" dirty="0" err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Взаимный</a:t>
            </a:r>
            <a:r>
              <a:rPr sz="2100" b="1" dirty="0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1" dirty="0" err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интерес</a:t>
            </a:r>
            <a:endParaRPr sz="2100" b="1" dirty="0">
              <a:solidFill>
                <a:srgbClr val="7538D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t7-Оба получают уведомление о м">
            <a:extLst>
              <a:ext uri="{FF2B5EF4-FFF2-40B4-BE49-F238E27FC236}">
                <a16:creationId xmlns:a16="http://schemas.microsoft.com/office/drawing/2014/main" id="{6B7061A9-AF57-4F42-BFB1-978A9225ACE2}"/>
              </a:ext>
            </a:extLst>
          </p:cNvPr>
          <p:cNvSpPr>
            <a:spLocks noGrp="1"/>
          </p:cNvSpPr>
          <p:nvPr/>
        </p:nvSpPr>
        <p:spPr>
          <a:xfrm>
            <a:off x="952500" y="4966538"/>
            <a:ext cx="5048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Оба</a:t>
            </a:r>
            <a:r>
              <a:rPr sz="1650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получают</a:t>
            </a:r>
            <a:r>
              <a:rPr sz="1650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уведомление</a:t>
            </a:r>
            <a:r>
              <a:rPr sz="1650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о</a:t>
            </a:r>
            <a:r>
              <a:rPr sz="1650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мэтче</a:t>
            </a:r>
            <a:r>
              <a:rPr sz="1650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sp>
        <p:nvSpPr>
          <p:cNvPr id="16" name="t7-01  Взаимный интерес">
            <a:extLst>
              <a:ext uri="{FF2B5EF4-FFF2-40B4-BE49-F238E27FC236}">
                <a16:creationId xmlns:a16="http://schemas.microsoft.com/office/drawing/2014/main" id="{CFE3CB2D-4A38-793F-0D98-638D300F1A89}"/>
              </a:ext>
            </a:extLst>
          </p:cNvPr>
          <p:cNvSpPr>
            <a:spLocks noGrp="1"/>
          </p:cNvSpPr>
          <p:nvPr/>
        </p:nvSpPr>
        <p:spPr>
          <a:xfrm>
            <a:off x="6543675" y="4537913"/>
            <a:ext cx="514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dirty="0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0</a:t>
            </a:r>
            <a:r>
              <a:rPr lang="ru-RU" sz="2100" b="1" dirty="0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2</a:t>
            </a:r>
            <a:r>
              <a:rPr sz="2100" b="1" dirty="0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  </a:t>
            </a:r>
            <a:r>
              <a:rPr lang="ru-RU" sz="2100" b="1" dirty="0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Поделиться контактом</a:t>
            </a:r>
            <a:endParaRPr sz="2100" b="1" dirty="0">
              <a:solidFill>
                <a:srgbClr val="7538D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9" name="t7-Оба получают уведомление о м">
            <a:extLst>
              <a:ext uri="{FF2B5EF4-FFF2-40B4-BE49-F238E27FC236}">
                <a16:creationId xmlns:a16="http://schemas.microsoft.com/office/drawing/2014/main" id="{E2C9FD03-FC7D-FECE-C830-635953E978D2}"/>
              </a:ext>
            </a:extLst>
          </p:cNvPr>
          <p:cNvSpPr>
            <a:spLocks noGrp="1"/>
          </p:cNvSpPr>
          <p:nvPr/>
        </p:nvSpPr>
        <p:spPr>
          <a:xfrm>
            <a:off x="6543675" y="4995113"/>
            <a:ext cx="5048250" cy="848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650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Каждый пользователь самостоятельно прикрепляет ссылку приглашение на свой профиль </a:t>
            </a:r>
            <a:r>
              <a:rPr lang="en-US" sz="1650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MAX.</a:t>
            </a:r>
            <a:endParaRPr sz="1650" b="0" dirty="0">
              <a:solidFill>
                <a:srgbClr val="100C1B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2887F97-10EE-DF97-141B-6B6CB3D3F9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675" y="2201883"/>
            <a:ext cx="48387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286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8-ИССЛЕДОВАНИЕ ДОВЕРИЯ">
            <a:extLst>
              <a:ext uri="{FF2B5EF4-FFF2-40B4-BE49-F238E27FC236}">
                <a16:creationId xmlns:a16="http://schemas.microsoft.com/office/drawing/2014/main" id="{1FCAB504-2C66-4223-9257-CD3BA84B0718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10763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ИССЛЕДОВАНИЕ ДОВЕРИЯ</a:t>
            </a:r>
          </a:p>
        </p:txBody>
      </p:sp>
      <p:sp>
        <p:nvSpPr>
          <p:cNvPr id="2" name="t8-Для решения нужен контекст о">
            <a:extLst>
              <a:ext uri="{FF2B5EF4-FFF2-40B4-BE49-F238E27FC236}">
                <a16:creationId xmlns:a16="http://schemas.microsoft.com/office/drawing/2014/main" id="{C63D7B31-73D4-4434-A947-4B4293E492DD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11125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Для решения нужен контекст о человеке</a:t>
            </a:r>
          </a:p>
        </p:txBody>
      </p:sp>
      <p:sp>
        <p:nvSpPr>
          <p:cNvPr id="3" name="t8-ДВИЖМАКС">
            <a:extLst>
              <a:ext uri="{FF2B5EF4-FFF2-40B4-BE49-F238E27FC236}">
                <a16:creationId xmlns:a16="http://schemas.microsoft.com/office/drawing/2014/main" id="{D68920DB-20D8-4694-A40F-A69B8EF8BED5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2000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1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ДВИЖМАКС</a:t>
            </a:r>
          </a:p>
        </p:txBody>
      </p:sp>
      <p:sp>
        <p:nvSpPr>
          <p:cNvPr id="5" name="t8-09">
            <a:extLst>
              <a:ext uri="{FF2B5EF4-FFF2-40B4-BE49-F238E27FC236}">
                <a16:creationId xmlns:a16="http://schemas.microsoft.com/office/drawing/2014/main" id="{79A96C09-2FB4-4827-B022-9F0300CA77E8}"/>
              </a:ext>
            </a:extLst>
          </p:cNvPr>
          <p:cNvSpPr>
            <a:spLocks noGrp="1"/>
          </p:cNvSpPr>
          <p:nvPr/>
        </p:nvSpPr>
        <p:spPr>
          <a:xfrm>
            <a:off x="11268075" y="6429375"/>
            <a:ext cx="419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371475" y="1943100"/>
          <a:ext cx="7372350" cy="3857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8-В MVP">
            <a:extLst>
              <a:ext uri="{FF2B5EF4-FFF2-40B4-BE49-F238E27FC236}">
                <a16:creationId xmlns:a16="http://schemas.microsoft.com/office/drawing/2014/main" id="{42B9C2C5-B73D-4BD5-8DED-86C45B66B825}"/>
              </a:ext>
            </a:extLst>
          </p:cNvPr>
          <p:cNvSpPr>
            <a:spLocks noGrp="1"/>
          </p:cNvSpPr>
          <p:nvPr/>
        </p:nvSpPr>
        <p:spPr>
          <a:xfrm>
            <a:off x="8391525" y="21145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В MVP</a:t>
            </a:r>
          </a:p>
        </p:txBody>
      </p:sp>
      <p:sp>
        <p:nvSpPr>
          <p:cNvPr id="8" name="t8-Возраст, описание,&#10;фото и ин">
            <a:extLst>
              <a:ext uri="{FF2B5EF4-FFF2-40B4-BE49-F238E27FC236}">
                <a16:creationId xmlns:a16="http://schemas.microsoft.com/office/drawing/2014/main" id="{AD7BAF5B-B0E8-41F8-98C7-9134B6AEDE36}"/>
              </a:ext>
            </a:extLst>
          </p:cNvPr>
          <p:cNvSpPr>
            <a:spLocks noGrp="1"/>
          </p:cNvSpPr>
          <p:nvPr/>
        </p:nvSpPr>
        <p:spPr>
          <a:xfrm>
            <a:off x="8401050" y="2686050"/>
            <a:ext cx="3095625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Возраст</a:t>
            </a:r>
            <a:r>
              <a:rPr sz="187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187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описание</a:t>
            </a:r>
            <a:r>
              <a:rPr sz="187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,</a:t>
            </a:r>
          </a:p>
          <a:p>
            <a:pPr>
              <a:defRPr sz="1875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фото</a:t>
            </a:r>
            <a:r>
              <a:rPr sz="187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7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и</a:t>
            </a:r>
            <a:r>
              <a:rPr sz="187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75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интересы</a:t>
            </a:r>
            <a:r>
              <a:rPr sz="1875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sp>
        <p:nvSpPr>
          <p:cNvPr id="9" name="t8-Следующий этап">
            <a:extLst>
              <a:ext uri="{FF2B5EF4-FFF2-40B4-BE49-F238E27FC236}">
                <a16:creationId xmlns:a16="http://schemas.microsoft.com/office/drawing/2014/main" id="{B8D95F02-2E51-488B-B497-62967A8641EB}"/>
              </a:ext>
            </a:extLst>
          </p:cNvPr>
          <p:cNvSpPr>
            <a:spLocks noGrp="1"/>
          </p:cNvSpPr>
          <p:nvPr/>
        </p:nvSpPr>
        <p:spPr>
          <a:xfrm>
            <a:off x="8391525" y="4619625"/>
            <a:ext cx="31527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dirty="0" err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Следующий</a:t>
            </a:r>
            <a:r>
              <a:rPr sz="1950" b="1" dirty="0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950" b="1" dirty="0" err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этап</a:t>
            </a:r>
            <a:endParaRPr sz="1950" b="1" dirty="0">
              <a:solidFill>
                <a:srgbClr val="7538D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" name="t8-Верификация профилей&#10;и инстр">
            <a:extLst>
              <a:ext uri="{FF2B5EF4-FFF2-40B4-BE49-F238E27FC236}">
                <a16:creationId xmlns:a16="http://schemas.microsoft.com/office/drawing/2014/main" id="{B9D3592E-3F15-4455-877D-33C58765704D}"/>
              </a:ext>
            </a:extLst>
          </p:cNvPr>
          <p:cNvSpPr>
            <a:spLocks noGrp="1"/>
          </p:cNvSpPr>
          <p:nvPr/>
        </p:nvSpPr>
        <p:spPr>
          <a:xfrm>
            <a:off x="8401050" y="5172075"/>
            <a:ext cx="31432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Верификация</a:t>
            </a:r>
            <a:r>
              <a:rPr sz="1800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профилей</a:t>
            </a:r>
            <a:endParaRPr sz="1800" b="0" dirty="0">
              <a:solidFill>
                <a:srgbClr val="100C1B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1800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и</a:t>
            </a:r>
            <a:r>
              <a:rPr sz="1800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инструменты</a:t>
            </a:r>
            <a:r>
              <a:rPr sz="1800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0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жалоб</a:t>
            </a:r>
            <a:r>
              <a:rPr sz="1800" b="0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6721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9-СОСТОЯНИЕ MVP">
            <a:extLst>
              <a:ext uri="{FF2B5EF4-FFF2-40B4-BE49-F238E27FC236}">
                <a16:creationId xmlns:a16="http://schemas.microsoft.com/office/drawing/2014/main" id="{295CFF64-AEC8-4CB0-BD1D-44E492173813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10763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СОСТОЯНИЕ MVP</a:t>
            </a:r>
          </a:p>
        </p:txBody>
      </p:sp>
      <p:sp>
        <p:nvSpPr>
          <p:cNvPr id="2" name="t9-Команда проверила путь на дв">
            <a:extLst>
              <a:ext uri="{FF2B5EF4-FFF2-40B4-BE49-F238E27FC236}">
                <a16:creationId xmlns:a16="http://schemas.microsoft.com/office/drawing/2014/main" id="{17782729-48B9-4DFA-A4AE-B650C176FA60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11125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Команда</a:t>
            </a:r>
            <a:r>
              <a:rPr sz="3300" b="1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3300" b="1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проверила</a:t>
            </a:r>
            <a:r>
              <a:rPr sz="3300" b="1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3300" b="1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путь</a:t>
            </a:r>
            <a:r>
              <a:rPr sz="3300" b="1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3300" b="1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на</a:t>
            </a:r>
            <a:r>
              <a:rPr sz="3300" b="1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3300" b="1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двух</a:t>
            </a:r>
            <a:r>
              <a:rPr sz="3300" b="1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3300" b="1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аккаунтах</a:t>
            </a:r>
            <a:endParaRPr sz="3300" b="1" dirty="0">
              <a:solidFill>
                <a:srgbClr val="100C1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t9-ДВИЖМАКС">
            <a:extLst>
              <a:ext uri="{FF2B5EF4-FFF2-40B4-BE49-F238E27FC236}">
                <a16:creationId xmlns:a16="http://schemas.microsoft.com/office/drawing/2014/main" id="{0E691972-59BE-4D33-9843-7E21C754A217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2000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1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ДВИЖМАКС</a:t>
            </a:r>
          </a:p>
        </p:txBody>
      </p:sp>
      <p:sp>
        <p:nvSpPr>
          <p:cNvPr id="5" name="t9-10">
            <a:extLst>
              <a:ext uri="{FF2B5EF4-FFF2-40B4-BE49-F238E27FC236}">
                <a16:creationId xmlns:a16="http://schemas.microsoft.com/office/drawing/2014/main" id="{ED817163-BB74-421A-B164-18A67C98693C}"/>
              </a:ext>
            </a:extLst>
          </p:cNvPr>
          <p:cNvSpPr>
            <a:spLocks noGrp="1"/>
          </p:cNvSpPr>
          <p:nvPr/>
        </p:nvSpPr>
        <p:spPr>
          <a:xfrm>
            <a:off x="11268075" y="6429375"/>
            <a:ext cx="419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t9-2">
            <a:extLst>
              <a:ext uri="{FF2B5EF4-FFF2-40B4-BE49-F238E27FC236}">
                <a16:creationId xmlns:a16="http://schemas.microsoft.com/office/drawing/2014/main" id="{5EC86004-0BE7-4078-A2C7-A3056A5F1FD2}"/>
              </a:ext>
            </a:extLst>
          </p:cNvPr>
          <p:cNvSpPr>
            <a:spLocks noGrp="1"/>
          </p:cNvSpPr>
          <p:nvPr/>
        </p:nvSpPr>
        <p:spPr>
          <a:xfrm>
            <a:off x="533400" y="2000250"/>
            <a:ext cx="161925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9600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9600" b="1" dirty="0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7" name="t9-реальных&#10;аккаунта MAX">
            <a:extLst>
              <a:ext uri="{FF2B5EF4-FFF2-40B4-BE49-F238E27FC236}">
                <a16:creationId xmlns:a16="http://schemas.microsoft.com/office/drawing/2014/main" id="{5CDF68F9-33B6-4A24-94EB-11ECD4C220E0}"/>
              </a:ext>
            </a:extLst>
          </p:cNvPr>
          <p:cNvSpPr>
            <a:spLocks noGrp="1"/>
          </p:cNvSpPr>
          <p:nvPr/>
        </p:nvSpPr>
        <p:spPr>
          <a:xfrm>
            <a:off x="2162175" y="2400300"/>
            <a:ext cx="423862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реальных</a:t>
            </a:r>
          </a:p>
          <a:p>
            <a:pPr>
              <a:defRPr sz="2625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аккаунта MAX</a:t>
            </a:r>
          </a:p>
        </p:txBody>
      </p:sp>
      <p:sp>
        <p:nvSpPr>
          <p:cNvPr id="8" name="t9-Взаимный лайк, мэтч&#10;и обмен ">
            <a:extLst>
              <a:ext uri="{FF2B5EF4-FFF2-40B4-BE49-F238E27FC236}">
                <a16:creationId xmlns:a16="http://schemas.microsoft.com/office/drawing/2014/main" id="{EE93C4D6-8FE5-41FC-ACD0-8EF80710A07F}"/>
              </a:ext>
            </a:extLst>
          </p:cNvPr>
          <p:cNvSpPr>
            <a:spLocks noGrp="1"/>
          </p:cNvSpPr>
          <p:nvPr/>
        </p:nvSpPr>
        <p:spPr>
          <a:xfrm>
            <a:off x="571500" y="4105275"/>
            <a:ext cx="5934075" cy="1438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Взаимный</a:t>
            </a:r>
            <a:r>
              <a:rPr sz="2550" b="1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550" b="1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лайк</a:t>
            </a:r>
            <a:r>
              <a:rPr sz="2550" b="1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2550" b="1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мэтч</a:t>
            </a:r>
            <a:endParaRPr sz="2550" b="1" dirty="0">
              <a:solidFill>
                <a:srgbClr val="100C1B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550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и</a:t>
            </a:r>
            <a:r>
              <a:rPr sz="2550" b="1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550" b="1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обмен</a:t>
            </a:r>
            <a:r>
              <a:rPr sz="2550" b="1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550" b="1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контактами</a:t>
            </a:r>
            <a:endParaRPr sz="2550" b="1" dirty="0">
              <a:solidFill>
                <a:srgbClr val="100C1B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550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с</a:t>
            </a:r>
            <a:r>
              <a:rPr sz="2550" b="1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550" b="1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обеих</a:t>
            </a:r>
            <a:r>
              <a:rPr sz="2550" b="1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550" b="1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сторон</a:t>
            </a:r>
            <a:endParaRPr sz="2550" b="1" dirty="0">
              <a:solidFill>
                <a:srgbClr val="100C1B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3C8FFE-B90C-2F10-A8B6-B2A187E0C6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409" y="1314450"/>
            <a:ext cx="2635691" cy="48898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3185498-CA5E-29A8-6BE0-52BA49776A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578" y="1290637"/>
            <a:ext cx="2774072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095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9-СОСТОЯНИЕ MVP">
            <a:extLst>
              <a:ext uri="{FF2B5EF4-FFF2-40B4-BE49-F238E27FC236}">
                <a16:creationId xmlns:a16="http://schemas.microsoft.com/office/drawing/2014/main" id="{CD17B40E-605E-2F61-7059-BFEA65E49AC4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10763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СОСТОЯНИЕ MVP</a:t>
            </a:r>
          </a:p>
        </p:txBody>
      </p:sp>
      <p:sp>
        <p:nvSpPr>
          <p:cNvPr id="3" name="t9-Команда проверила путь на дв">
            <a:extLst>
              <a:ext uri="{FF2B5EF4-FFF2-40B4-BE49-F238E27FC236}">
                <a16:creationId xmlns:a16="http://schemas.microsoft.com/office/drawing/2014/main" id="{F270F310-CA41-2EB2-E5E1-39D8D44341AD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11125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Команда</a:t>
            </a:r>
            <a:r>
              <a:rPr sz="3300" b="1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3300" b="1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проверила</a:t>
            </a:r>
            <a:r>
              <a:rPr sz="3300" b="1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3300" b="1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путь</a:t>
            </a:r>
            <a:r>
              <a:rPr sz="3300" b="1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3300" b="1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на</a:t>
            </a:r>
            <a:r>
              <a:rPr sz="3300" b="1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3300" b="1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двух</a:t>
            </a:r>
            <a:r>
              <a:rPr sz="3300" b="1" dirty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3300" b="1" dirty="0" err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аккаунтах</a:t>
            </a:r>
            <a:endParaRPr sz="3300" b="1" dirty="0">
              <a:solidFill>
                <a:srgbClr val="100C1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t9-ДВИЖМАКС">
            <a:extLst>
              <a:ext uri="{FF2B5EF4-FFF2-40B4-BE49-F238E27FC236}">
                <a16:creationId xmlns:a16="http://schemas.microsoft.com/office/drawing/2014/main" id="{BB49E1F4-CF0E-F98F-F29D-5BF35E791AC2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2000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1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ДВИЖМАКС</a:t>
            </a:r>
          </a:p>
        </p:txBody>
      </p:sp>
      <p:sp>
        <p:nvSpPr>
          <p:cNvPr id="5" name="t9-10">
            <a:extLst>
              <a:ext uri="{FF2B5EF4-FFF2-40B4-BE49-F238E27FC236}">
                <a16:creationId xmlns:a16="http://schemas.microsoft.com/office/drawing/2014/main" id="{33E2B2A9-103F-3E72-CC61-101C268C898F}"/>
              </a:ext>
            </a:extLst>
          </p:cNvPr>
          <p:cNvSpPr>
            <a:spLocks noGrp="1"/>
          </p:cNvSpPr>
          <p:nvPr/>
        </p:nvSpPr>
        <p:spPr>
          <a:xfrm>
            <a:off x="11268075" y="6429375"/>
            <a:ext cx="419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200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11</a:t>
            </a:r>
            <a:endParaRPr sz="1200" b="0" dirty="0">
              <a:solidFill>
                <a:srgbClr val="615C7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t9-2">
            <a:extLst>
              <a:ext uri="{FF2B5EF4-FFF2-40B4-BE49-F238E27FC236}">
                <a16:creationId xmlns:a16="http://schemas.microsoft.com/office/drawing/2014/main" id="{EC939401-D37B-D6DC-FF09-C5BDFAE62C3B}"/>
              </a:ext>
            </a:extLst>
          </p:cNvPr>
          <p:cNvSpPr>
            <a:spLocks noGrp="1"/>
          </p:cNvSpPr>
          <p:nvPr/>
        </p:nvSpPr>
        <p:spPr>
          <a:xfrm>
            <a:off x="533400" y="2000250"/>
            <a:ext cx="161925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9600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9600" b="1" dirty="0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7" name="t9-реальных&#10;аккаунта MAX">
            <a:extLst>
              <a:ext uri="{FF2B5EF4-FFF2-40B4-BE49-F238E27FC236}">
                <a16:creationId xmlns:a16="http://schemas.microsoft.com/office/drawing/2014/main" id="{D157752F-AC8E-E5B0-45CA-0EB572F8E553}"/>
              </a:ext>
            </a:extLst>
          </p:cNvPr>
          <p:cNvSpPr>
            <a:spLocks noGrp="1"/>
          </p:cNvSpPr>
          <p:nvPr/>
        </p:nvSpPr>
        <p:spPr>
          <a:xfrm>
            <a:off x="2162175" y="2400300"/>
            <a:ext cx="423862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реальных</a:t>
            </a:r>
          </a:p>
          <a:p>
            <a:pPr>
              <a:defRPr sz="2625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аккаунта MAX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825D0E-13B5-F1B3-025B-53E2A0641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2805" y="1435894"/>
            <a:ext cx="1837394" cy="39862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A13BAA-A06B-6117-4C64-B21ACAA11D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060" y="1435894"/>
            <a:ext cx="1837394" cy="39862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B1B0C4-A5E2-0F28-E1C0-DCAF4129B1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8827" y="1435894"/>
            <a:ext cx="1832813" cy="398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694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10-АРХИТЕКТУРА">
            <a:extLst>
              <a:ext uri="{FF2B5EF4-FFF2-40B4-BE49-F238E27FC236}">
                <a16:creationId xmlns:a16="http://schemas.microsoft.com/office/drawing/2014/main" id="{40676726-B4AD-406F-8A62-CD1BD4276736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10763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АРХИТЕКТУРА</a:t>
            </a:r>
          </a:p>
        </p:txBody>
      </p:sp>
      <p:sp>
        <p:nvSpPr>
          <p:cNvPr id="2" name="t10-Данные событий и действия лю">
            <a:extLst>
              <a:ext uri="{FF2B5EF4-FFF2-40B4-BE49-F238E27FC236}">
                <a16:creationId xmlns:a16="http://schemas.microsoft.com/office/drawing/2014/main" id="{6452FDCD-A556-48F3-BB23-95D6B7C69ADC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11125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Данные событий и действия людей разделены</a:t>
            </a:r>
          </a:p>
        </p:txBody>
      </p:sp>
      <p:sp>
        <p:nvSpPr>
          <p:cNvPr id="3" name="t10-ДВИЖМАКС">
            <a:extLst>
              <a:ext uri="{FF2B5EF4-FFF2-40B4-BE49-F238E27FC236}">
                <a16:creationId xmlns:a16="http://schemas.microsoft.com/office/drawing/2014/main" id="{D92A7777-8626-4806-9A63-11D57DD10C77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2000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1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ДВИЖМАКС</a:t>
            </a:r>
          </a:p>
        </p:txBody>
      </p:sp>
      <p:sp>
        <p:nvSpPr>
          <p:cNvPr id="4" name="t10-11">
            <a:extLst>
              <a:ext uri="{FF2B5EF4-FFF2-40B4-BE49-F238E27FC236}">
                <a16:creationId xmlns:a16="http://schemas.microsoft.com/office/drawing/2014/main" id="{B7BB8E33-9EC9-47F6-8964-BCEA729ED378}"/>
              </a:ext>
            </a:extLst>
          </p:cNvPr>
          <p:cNvSpPr>
            <a:spLocks noGrp="1"/>
          </p:cNvSpPr>
          <p:nvPr/>
        </p:nvSpPr>
        <p:spPr>
          <a:xfrm>
            <a:off x="11268075" y="6429375"/>
            <a:ext cx="419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1</a:t>
            </a:r>
            <a:r>
              <a:rPr lang="en-US" sz="1200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2</a:t>
            </a:r>
            <a:endParaRPr sz="1200" b="0" dirty="0">
              <a:solidFill>
                <a:srgbClr val="615C70"/>
              </a:solidFill>
              <a:latin typeface="DejaVu Sans"/>
              <a:ea typeface="DejaVu Sans"/>
              <a:cs typeface="DejaVu Sans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533400" y="2019300"/>
          <a:ext cx="11125200" cy="3524250"/>
        </p:xfrm>
        <a:graphic>
          <a:graphicData uri="http://schemas.openxmlformats.org/drawingml/2006/table">
            <a:tbl>
              <a:tblPr firstRow="1"/>
              <a:tblGrid>
                <a:gridCol w="240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538D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Контур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ED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538D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Компоненты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ED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538D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Задача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ED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Каталог событий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KudaGo API</a:t>
                      </a:r>
                    </a:p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Catalog worker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Загрузка, нормализация</a:t>
                      </a:r>
                    </a:p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 обновление афиши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Разметка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Yandex AI Studio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Теги из фиксированного словаря</a:t>
                      </a:r>
                    </a:p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 данным события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Состояние продукта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PostgreSQL</a:t>
                      </a:r>
                    </a:p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Redis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Профили, планы, мэтчи</a:t>
                      </a:r>
                    </a:p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 буфер персональной ленты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Взаимодействие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MAX-бот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Кнопки, сценарий, уведомления</a:t>
                      </a:r>
                    </a:p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 обмен контактом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10-В запрос к модели уходят тек">
            <a:extLst>
              <a:ext uri="{FF2B5EF4-FFF2-40B4-BE49-F238E27FC236}">
                <a16:creationId xmlns:a16="http://schemas.microsoft.com/office/drawing/2014/main" id="{C685E9E9-5CA0-45F2-921E-351B4D667838}"/>
              </a:ext>
            </a:extLst>
          </p:cNvPr>
          <p:cNvSpPr>
            <a:spLocks noGrp="1"/>
          </p:cNvSpPr>
          <p:nvPr/>
        </p:nvSpPr>
        <p:spPr>
          <a:xfrm>
            <a:off x="533400" y="5848350"/>
            <a:ext cx="10858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В запрос к модели уходят тексты событий. Анкеты и контакты пользователей в нем не используются.</a:t>
            </a:r>
          </a:p>
        </p:txBody>
      </p:sp>
    </p:spTree>
    <p:extLst>
      <p:ext uri="{BB962C8B-B14F-4D97-AF65-F5344CB8AC3E}">
        <p14:creationId xmlns:p14="http://schemas.microsoft.com/office/powerpoint/2010/main" val="1710184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11-ПРЕДЛАГАЕМЫЙ ЗАПУСК">
            <a:extLst>
              <a:ext uri="{FF2B5EF4-FFF2-40B4-BE49-F238E27FC236}">
                <a16:creationId xmlns:a16="http://schemas.microsoft.com/office/drawing/2014/main" id="{D238A99A-B084-46A6-9FBC-F945F358390E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10763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ПРЕДЛАГАЕМЫЙ ЗАПУСК</a:t>
            </a:r>
          </a:p>
        </p:txBody>
      </p:sp>
      <p:sp>
        <p:nvSpPr>
          <p:cNvPr id="2" name="t11-Пилот: одно сообщество и 3–5">
            <a:extLst>
              <a:ext uri="{FF2B5EF4-FFF2-40B4-BE49-F238E27FC236}">
                <a16:creationId xmlns:a16="http://schemas.microsoft.com/office/drawing/2014/main" id="{DB947E33-94B1-4004-8D29-389E2F0CCAE1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11125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Пилот: одно сообщество и 3–5 событий</a:t>
            </a:r>
          </a:p>
        </p:txBody>
      </p:sp>
      <p:sp>
        <p:nvSpPr>
          <p:cNvPr id="3" name="t11-ДВИЖМАКС">
            <a:extLst>
              <a:ext uri="{FF2B5EF4-FFF2-40B4-BE49-F238E27FC236}">
                <a16:creationId xmlns:a16="http://schemas.microsoft.com/office/drawing/2014/main" id="{3A95D159-4207-4FDE-BA41-948238CA00E7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2000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1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ДВИЖМАКС</a:t>
            </a:r>
          </a:p>
        </p:txBody>
      </p:sp>
      <p:sp>
        <p:nvSpPr>
          <p:cNvPr id="4" name="t11-Параметры пилота и метрики: ">
            <a:extLst>
              <a:ext uri="{FF2B5EF4-FFF2-40B4-BE49-F238E27FC236}">
                <a16:creationId xmlns:a16="http://schemas.microsoft.com/office/drawing/2014/main" id="{B930AECC-DD34-4071-A219-EF2787EAE540}"/>
              </a:ext>
            </a:extLst>
          </p:cNvPr>
          <p:cNvSpPr>
            <a:spLocks noGrp="1"/>
          </p:cNvSpPr>
          <p:nvPr/>
        </p:nvSpPr>
        <p:spPr>
          <a:xfrm>
            <a:off x="2266950" y="6448425"/>
            <a:ext cx="8743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 dirty="0" err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Параметры</a:t>
            </a:r>
            <a:r>
              <a:rPr sz="1050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050" b="0" dirty="0" err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пилота</a:t>
            </a:r>
            <a:r>
              <a:rPr sz="1050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050" b="0" dirty="0" err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и</a:t>
            </a:r>
            <a:r>
              <a:rPr sz="1050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050" b="0" dirty="0" err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метрики</a:t>
            </a:r>
            <a:r>
              <a:rPr sz="1050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: </a:t>
            </a:r>
            <a:r>
              <a:rPr sz="1050" b="0" dirty="0" err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план</a:t>
            </a:r>
            <a:r>
              <a:rPr sz="1050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1050" b="0" dirty="0" err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а</a:t>
            </a:r>
            <a:r>
              <a:rPr sz="1050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050" b="0" dirty="0" err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не</a:t>
            </a:r>
            <a:r>
              <a:rPr sz="1050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050" b="0" dirty="0" err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уже</a:t>
            </a:r>
            <a:r>
              <a:rPr sz="1050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050" b="0" dirty="0" err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достигнутые</a:t>
            </a:r>
            <a:r>
              <a:rPr sz="1050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050" b="0" dirty="0" err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результаты</a:t>
            </a:r>
            <a:endParaRPr sz="1050" b="0" dirty="0">
              <a:solidFill>
                <a:srgbClr val="615C7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t11-12">
            <a:extLst>
              <a:ext uri="{FF2B5EF4-FFF2-40B4-BE49-F238E27FC236}">
                <a16:creationId xmlns:a16="http://schemas.microsoft.com/office/drawing/2014/main" id="{397E0822-8202-45FC-A414-BC5055EC3980}"/>
              </a:ext>
            </a:extLst>
          </p:cNvPr>
          <p:cNvSpPr>
            <a:spLocks noGrp="1"/>
          </p:cNvSpPr>
          <p:nvPr/>
        </p:nvSpPr>
        <p:spPr>
          <a:xfrm>
            <a:off x="11268075" y="6429375"/>
            <a:ext cx="419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1</a:t>
            </a:r>
            <a:r>
              <a:rPr lang="en-US" sz="1200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3</a:t>
            </a:r>
            <a:endParaRPr sz="1200" b="0" dirty="0">
              <a:solidFill>
                <a:srgbClr val="615C7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t11-Москва&#10;3 недели&#10;3–5 событий">
            <a:extLst>
              <a:ext uri="{FF2B5EF4-FFF2-40B4-BE49-F238E27FC236}">
                <a16:creationId xmlns:a16="http://schemas.microsoft.com/office/drawing/2014/main" id="{B3B38C2F-B804-4A88-889D-829B6E716ACF}"/>
              </a:ext>
            </a:extLst>
          </p:cNvPr>
          <p:cNvSpPr>
            <a:spLocks noGrp="1"/>
          </p:cNvSpPr>
          <p:nvPr/>
        </p:nvSpPr>
        <p:spPr>
          <a:xfrm>
            <a:off x="533400" y="2114550"/>
            <a:ext cx="4267200" cy="2114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7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Москва</a:t>
            </a:r>
          </a:p>
          <a:p>
            <a:pPr>
              <a:defRPr sz="367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3 недели</a:t>
            </a:r>
          </a:p>
          <a:p>
            <a:pPr>
              <a:defRPr sz="367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3–5 событий</a:t>
            </a:r>
          </a:p>
        </p:txBody>
      </p:sp>
      <p:sp>
        <p:nvSpPr>
          <p:cNvPr id="7" name="t11-Одно студенческое сообщество">
            <a:extLst>
              <a:ext uri="{FF2B5EF4-FFF2-40B4-BE49-F238E27FC236}">
                <a16:creationId xmlns:a16="http://schemas.microsoft.com/office/drawing/2014/main" id="{38A9D91E-B4C3-4211-BA36-E433D6D4A92D}"/>
              </a:ext>
            </a:extLst>
          </p:cNvPr>
          <p:cNvSpPr>
            <a:spLocks noGrp="1"/>
          </p:cNvSpPr>
          <p:nvPr/>
        </p:nvSpPr>
        <p:spPr>
          <a:xfrm>
            <a:off x="571500" y="4695825"/>
            <a:ext cx="4714875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Одно студенческое сообщество,</a:t>
            </a:r>
          </a:p>
          <a:p>
            <a:pPr>
              <a:defRPr sz="1800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участники 18–30 лет.</a:t>
            </a:r>
          </a:p>
          <a:p>
            <a:pPr>
              <a:defRPr sz="1800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Доступ через ссылку на MAX-бота.</a:t>
            </a:r>
          </a:p>
        </p:txBody>
      </p:sp>
      <p:sp>
        <p:nvSpPr>
          <p:cNvPr id="8" name="t11-Первые пользователи">
            <a:extLst>
              <a:ext uri="{FF2B5EF4-FFF2-40B4-BE49-F238E27FC236}">
                <a16:creationId xmlns:a16="http://schemas.microsoft.com/office/drawing/2014/main" id="{35F7B4AE-F160-450E-84A9-7DE6BE0C1AF6}"/>
              </a:ext>
            </a:extLst>
          </p:cNvPr>
          <p:cNvSpPr>
            <a:spLocks noGrp="1"/>
          </p:cNvSpPr>
          <p:nvPr/>
        </p:nvSpPr>
        <p:spPr>
          <a:xfrm>
            <a:off x="6296025" y="2047875"/>
            <a:ext cx="53625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Первые пользователи</a:t>
            </a:r>
          </a:p>
        </p:txBody>
      </p:sp>
      <p:sp>
        <p:nvSpPr>
          <p:cNvPr id="9" name="t11-Анонсы выбранных событий в с">
            <a:extLst>
              <a:ext uri="{FF2B5EF4-FFF2-40B4-BE49-F238E27FC236}">
                <a16:creationId xmlns:a16="http://schemas.microsoft.com/office/drawing/2014/main" id="{1549F5E3-67D3-4AAF-AE0D-D3753FF9425C}"/>
              </a:ext>
            </a:extLst>
          </p:cNvPr>
          <p:cNvSpPr>
            <a:spLocks noGrp="1"/>
          </p:cNvSpPr>
          <p:nvPr/>
        </p:nvSpPr>
        <p:spPr>
          <a:xfrm>
            <a:off x="6315075" y="2609850"/>
            <a:ext cx="52197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Анонсы выбранных событий в сообществе.</a:t>
            </a:r>
          </a:p>
          <a:p>
            <a:pPr>
              <a:defRPr sz="1800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Набор в одну волну, чтобы на событии</a:t>
            </a:r>
          </a:p>
          <a:p>
            <a:pPr>
              <a:defRPr sz="1800" b="0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одновременно появились желающие.</a:t>
            </a:r>
          </a:p>
        </p:txBody>
      </p:sp>
      <p:sp>
        <p:nvSpPr>
          <p:cNvPr id="10" name="t11-Ожидаемый эффект">
            <a:extLst>
              <a:ext uri="{FF2B5EF4-FFF2-40B4-BE49-F238E27FC236}">
                <a16:creationId xmlns:a16="http://schemas.microsoft.com/office/drawing/2014/main" id="{9D6BF940-6B83-49A5-B083-715A7F7C9572}"/>
              </a:ext>
            </a:extLst>
          </p:cNvPr>
          <p:cNvSpPr>
            <a:spLocks noGrp="1"/>
          </p:cNvSpPr>
          <p:nvPr/>
        </p:nvSpPr>
        <p:spPr>
          <a:xfrm>
            <a:off x="6296025" y="4048125"/>
            <a:ext cx="514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Ожидаемый эффект</a:t>
            </a:r>
          </a:p>
        </p:txBody>
      </p:sp>
      <p:sp>
        <p:nvSpPr>
          <p:cNvPr id="11" name="t11-Меньше отказов от события&#10;из">
            <a:extLst>
              <a:ext uri="{FF2B5EF4-FFF2-40B4-BE49-F238E27FC236}">
                <a16:creationId xmlns:a16="http://schemas.microsoft.com/office/drawing/2014/main" id="{CE3E4EBE-3100-4649-893A-3BF0F35DF1CA}"/>
              </a:ext>
            </a:extLst>
          </p:cNvPr>
          <p:cNvSpPr>
            <a:spLocks noGrp="1"/>
          </p:cNvSpPr>
          <p:nvPr/>
        </p:nvSpPr>
        <p:spPr>
          <a:xfrm>
            <a:off x="6315075" y="4600575"/>
            <a:ext cx="52768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Меньше отказов от события</a:t>
            </a:r>
          </a:p>
          <a:p>
            <a:pPr>
              <a:defRPr sz="2025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из-за отсутствия компании.</a:t>
            </a:r>
          </a:p>
        </p:txBody>
      </p:sp>
      <p:sp>
        <p:nvSpPr>
          <p:cNvPr id="12" name="t11-Проверка: доля участников с ">
            <a:extLst>
              <a:ext uri="{FF2B5EF4-FFF2-40B4-BE49-F238E27FC236}">
                <a16:creationId xmlns:a16="http://schemas.microsoft.com/office/drawing/2014/main" id="{B8A8880A-EB07-4757-93EA-B8C47CC48D8B}"/>
              </a:ext>
            </a:extLst>
          </p:cNvPr>
          <p:cNvSpPr>
            <a:spLocks noGrp="1"/>
          </p:cNvSpPr>
          <p:nvPr/>
        </p:nvSpPr>
        <p:spPr>
          <a:xfrm>
            <a:off x="6315075" y="5610225"/>
            <a:ext cx="52673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75" b="0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Проверка: доля участников с планом,</a:t>
            </a:r>
          </a:p>
          <a:p>
            <a:pPr>
              <a:defRPr sz="1575" b="0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подтвердивших совместный поход.</a:t>
            </a:r>
          </a:p>
        </p:txBody>
      </p:sp>
    </p:spTree>
    <p:extLst>
      <p:ext uri="{BB962C8B-B14F-4D97-AF65-F5344CB8AC3E}">
        <p14:creationId xmlns:p14="http://schemas.microsoft.com/office/powerpoint/2010/main" val="1660365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12-МАСШТАБИРОВАНИЕ">
            <a:extLst>
              <a:ext uri="{FF2B5EF4-FFF2-40B4-BE49-F238E27FC236}">
                <a16:creationId xmlns:a16="http://schemas.microsoft.com/office/drawing/2014/main" id="{3861D665-3BB7-41EA-B016-23C7EEB3239C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10763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МАСШТАБИРОВАНИЕ</a:t>
            </a:r>
          </a:p>
        </p:txBody>
      </p:sp>
      <p:sp>
        <p:nvSpPr>
          <p:cNvPr id="2" name="t12-Следующий контекст: другой в">
            <a:extLst>
              <a:ext uri="{FF2B5EF4-FFF2-40B4-BE49-F238E27FC236}">
                <a16:creationId xmlns:a16="http://schemas.microsoft.com/office/drawing/2014/main" id="{12AC4B6D-CCFE-48D6-8903-F39634E6A81A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11125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Следующий контекст: другой вуз и новый город</a:t>
            </a:r>
          </a:p>
        </p:txBody>
      </p:sp>
      <p:sp>
        <p:nvSpPr>
          <p:cNvPr id="3" name="t12-ДВИЖМАКС">
            <a:extLst>
              <a:ext uri="{FF2B5EF4-FFF2-40B4-BE49-F238E27FC236}">
                <a16:creationId xmlns:a16="http://schemas.microsoft.com/office/drawing/2014/main" id="{E9141AE0-AF17-4AED-AA1B-B78F6C2B0005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2000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1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ДВИЖМАКС</a:t>
            </a:r>
          </a:p>
        </p:txBody>
      </p:sp>
      <p:sp>
        <p:nvSpPr>
          <p:cNvPr id="5" name="t12-13">
            <a:extLst>
              <a:ext uri="{FF2B5EF4-FFF2-40B4-BE49-F238E27FC236}">
                <a16:creationId xmlns:a16="http://schemas.microsoft.com/office/drawing/2014/main" id="{842E5C4F-7E05-4F9C-B094-EB8D7F2C9881}"/>
              </a:ext>
            </a:extLst>
          </p:cNvPr>
          <p:cNvSpPr>
            <a:spLocks noGrp="1"/>
          </p:cNvSpPr>
          <p:nvPr/>
        </p:nvSpPr>
        <p:spPr>
          <a:xfrm>
            <a:off x="11268075" y="6429375"/>
            <a:ext cx="419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1</a:t>
            </a:r>
            <a:r>
              <a:rPr lang="en-US" sz="1200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4</a:t>
            </a:r>
            <a:endParaRPr sz="1200" b="0" dirty="0">
              <a:solidFill>
                <a:srgbClr val="615C70"/>
              </a:solidFill>
              <a:latin typeface="DejaVu Sans"/>
              <a:ea typeface="DejaVu Sans"/>
              <a:cs typeface="DejaVu Sans"/>
            </a:endParaRPr>
          </a:p>
        </p:txBody>
      </p:sp>
      <p:graphicFrame>
        <p:nvGraphicFramePr>
          <p:cNvPr id="18" name="Table 17"/>
          <p:cNvGraphicFramePr/>
          <p:nvPr/>
        </p:nvGraphicFramePr>
        <p:xfrm>
          <a:off x="533400" y="2009775"/>
          <a:ext cx="11125200" cy="3200400"/>
        </p:xfrm>
        <a:graphic>
          <a:graphicData uri="http://schemas.openxmlformats.org/drawingml/2006/table">
            <a:tbl>
              <a:tblPr firstRow="1"/>
              <a:tblGrid>
                <a:gridCol w="499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538D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Сохраняем ядро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ED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538D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Адаптируем под новый контекст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ED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5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Событие, намерение, мэтч, контакт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Город в онбординге и маршрутизация</a:t>
                      </a:r>
                    </a:p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событий и пользователей по городу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5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Профили, модель данных и теги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Покрытие и качество каталога,</a:t>
                      </a:r>
                    </a:p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локальные категории и источники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5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MAX-сценарий и согласие на контакт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Локальный канал привлечения,</a:t>
                      </a:r>
                    </a:p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поддержка и правила модерации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12-1. Сообщество Москвы">
            <a:extLst>
              <a:ext uri="{FF2B5EF4-FFF2-40B4-BE49-F238E27FC236}">
                <a16:creationId xmlns:a16="http://schemas.microsoft.com/office/drawing/2014/main" id="{0D579129-00D1-4921-A6B1-156BDDBF0E7E}"/>
              </a:ext>
            </a:extLst>
          </p:cNvPr>
          <p:cNvSpPr>
            <a:spLocks noGrp="1"/>
          </p:cNvSpPr>
          <p:nvPr/>
        </p:nvSpPr>
        <p:spPr>
          <a:xfrm>
            <a:off x="533400" y="5610225"/>
            <a:ext cx="34766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1. Сообщество Москвы</a:t>
            </a:r>
          </a:p>
        </p:txBody>
      </p:sp>
      <p:sp>
        <p:nvSpPr>
          <p:cNvPr id="8" name="t12-Проверка совместных походов">
            <a:extLst>
              <a:ext uri="{FF2B5EF4-FFF2-40B4-BE49-F238E27FC236}">
                <a16:creationId xmlns:a16="http://schemas.microsoft.com/office/drawing/2014/main" id="{063460B5-DDBE-4D0D-88E0-FB7333538742}"/>
              </a:ext>
            </a:extLst>
          </p:cNvPr>
          <p:cNvSpPr>
            <a:spLocks noGrp="1"/>
          </p:cNvSpPr>
          <p:nvPr/>
        </p:nvSpPr>
        <p:spPr>
          <a:xfrm>
            <a:off x="533400" y="6019800"/>
            <a:ext cx="34861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Проверка совместных походов</a:t>
            </a:r>
          </a:p>
        </p:txBody>
      </p:sp>
      <p:sp>
        <p:nvSpPr>
          <p:cNvPr id="9" name="t12-2. Другой московский вуз">
            <a:extLst>
              <a:ext uri="{FF2B5EF4-FFF2-40B4-BE49-F238E27FC236}">
                <a16:creationId xmlns:a16="http://schemas.microsoft.com/office/drawing/2014/main" id="{8863F065-8FE1-4CD4-8F5C-4EECACE9765F}"/>
              </a:ext>
            </a:extLst>
          </p:cNvPr>
          <p:cNvSpPr>
            <a:spLocks noGrp="1"/>
          </p:cNvSpPr>
          <p:nvPr/>
        </p:nvSpPr>
        <p:spPr>
          <a:xfrm>
            <a:off x="4343400" y="5610225"/>
            <a:ext cx="3733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2. Другой московский вуз</a:t>
            </a:r>
          </a:p>
        </p:txBody>
      </p:sp>
      <p:sp>
        <p:nvSpPr>
          <p:cNvPr id="10" name="t12-Повторение запуска">
            <a:extLst>
              <a:ext uri="{FF2B5EF4-FFF2-40B4-BE49-F238E27FC236}">
                <a16:creationId xmlns:a16="http://schemas.microsoft.com/office/drawing/2014/main" id="{A395F68C-A420-4492-901D-2DBD075317A8}"/>
              </a:ext>
            </a:extLst>
          </p:cNvPr>
          <p:cNvSpPr>
            <a:spLocks noGrp="1"/>
          </p:cNvSpPr>
          <p:nvPr/>
        </p:nvSpPr>
        <p:spPr>
          <a:xfrm>
            <a:off x="4343400" y="6019800"/>
            <a:ext cx="36480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Повторение запуска</a:t>
            </a:r>
          </a:p>
        </p:txBody>
      </p:sp>
      <p:sp>
        <p:nvSpPr>
          <p:cNvPr id="11" name="t12-3. Санкт-Петербург">
            <a:extLst>
              <a:ext uri="{FF2B5EF4-FFF2-40B4-BE49-F238E27FC236}">
                <a16:creationId xmlns:a16="http://schemas.microsoft.com/office/drawing/2014/main" id="{4A252688-39EE-4C08-95EE-596B62DFBCC4}"/>
              </a:ext>
            </a:extLst>
          </p:cNvPr>
          <p:cNvSpPr>
            <a:spLocks noGrp="1"/>
          </p:cNvSpPr>
          <p:nvPr/>
        </p:nvSpPr>
        <p:spPr>
          <a:xfrm>
            <a:off x="8248650" y="5610225"/>
            <a:ext cx="34194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3. Санкт-Петербург</a:t>
            </a:r>
          </a:p>
        </p:txBody>
      </p:sp>
      <p:sp>
        <p:nvSpPr>
          <p:cNvPr id="12" name="t12-Новый каталог и локальный па">
            <a:extLst>
              <a:ext uri="{FF2B5EF4-FFF2-40B4-BE49-F238E27FC236}">
                <a16:creationId xmlns:a16="http://schemas.microsoft.com/office/drawing/2014/main" id="{89EDC882-62AE-4557-8BA2-F59E3FC715C7}"/>
              </a:ext>
            </a:extLst>
          </p:cNvPr>
          <p:cNvSpPr>
            <a:spLocks noGrp="1"/>
          </p:cNvSpPr>
          <p:nvPr/>
        </p:nvSpPr>
        <p:spPr>
          <a:xfrm>
            <a:off x="8248650" y="6019800"/>
            <a:ext cx="34480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Новый каталог и локальный партнер</a:t>
            </a:r>
          </a:p>
        </p:txBody>
      </p:sp>
    </p:spTree>
    <p:extLst>
      <p:ext uri="{BB962C8B-B14F-4D97-AF65-F5344CB8AC3E}">
        <p14:creationId xmlns:p14="http://schemas.microsoft.com/office/powerpoint/2010/main" val="1166930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13-ОГРАНИЧЕНИЯ И ПРИОРИТЕТЫ">
            <a:extLst>
              <a:ext uri="{FF2B5EF4-FFF2-40B4-BE49-F238E27FC236}">
                <a16:creationId xmlns:a16="http://schemas.microsoft.com/office/drawing/2014/main" id="{DD8DABFB-6DD2-448A-88E9-E468ADC3CD1A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10763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ОГРАНИЧЕНИЯ И ПРИОРИТЕТЫ</a:t>
            </a:r>
          </a:p>
        </p:txBody>
      </p:sp>
      <p:sp>
        <p:nvSpPr>
          <p:cNvPr id="2" name="t13-Условия для следующего запус">
            <a:extLst>
              <a:ext uri="{FF2B5EF4-FFF2-40B4-BE49-F238E27FC236}">
                <a16:creationId xmlns:a16="http://schemas.microsoft.com/office/drawing/2014/main" id="{47897650-F26B-4248-A949-0D86F619CF5D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11125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00C1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00C1B"/>
                </a:solidFill>
                <a:latin typeface="DejaVu Sans"/>
                <a:ea typeface="DejaVu Sans"/>
                <a:cs typeface="DejaVu Sans"/>
              </a:rPr>
              <a:t>Условия для следующего запуска</a:t>
            </a:r>
          </a:p>
        </p:txBody>
      </p:sp>
      <p:sp>
        <p:nvSpPr>
          <p:cNvPr id="3" name="t13-ДВИЖМАКС">
            <a:extLst>
              <a:ext uri="{FF2B5EF4-FFF2-40B4-BE49-F238E27FC236}">
                <a16:creationId xmlns:a16="http://schemas.microsoft.com/office/drawing/2014/main" id="{72BA7DAE-EA18-4DC5-B556-C77604F6256E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2000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1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ДВИЖМАКС</a:t>
            </a:r>
          </a:p>
        </p:txBody>
      </p:sp>
      <p:sp>
        <p:nvSpPr>
          <p:cNvPr id="4" name="t13-14">
            <a:extLst>
              <a:ext uri="{FF2B5EF4-FFF2-40B4-BE49-F238E27FC236}">
                <a16:creationId xmlns:a16="http://schemas.microsoft.com/office/drawing/2014/main" id="{D8C5E028-C94D-4C43-92C5-918D59A7FC84}"/>
              </a:ext>
            </a:extLst>
          </p:cNvPr>
          <p:cNvSpPr>
            <a:spLocks noGrp="1"/>
          </p:cNvSpPr>
          <p:nvPr/>
        </p:nvSpPr>
        <p:spPr>
          <a:xfrm>
            <a:off x="11268075" y="6429375"/>
            <a:ext cx="419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615C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1</a:t>
            </a:r>
            <a:r>
              <a:rPr lang="en-US" sz="1200" b="0" dirty="0">
                <a:solidFill>
                  <a:srgbClr val="615C70"/>
                </a:solidFill>
                <a:latin typeface="DejaVu Sans"/>
                <a:ea typeface="DejaVu Sans"/>
                <a:cs typeface="DejaVu Sans"/>
              </a:rPr>
              <a:t>5</a:t>
            </a:r>
            <a:endParaRPr sz="1200" b="0" dirty="0">
              <a:solidFill>
                <a:srgbClr val="615C70"/>
              </a:solidFill>
              <a:latin typeface="DejaVu Sans"/>
              <a:ea typeface="DejaVu Sans"/>
              <a:cs typeface="DejaVu Sans"/>
            </a:endParaRPr>
          </a:p>
        </p:txBody>
      </p:sp>
      <p:graphicFrame>
        <p:nvGraphicFramePr>
          <p:cNvPr id="11" name="Table 10"/>
          <p:cNvGraphicFramePr/>
          <p:nvPr>
            <p:extLst>
              <p:ext uri="{D42A27DB-BD31-4B8C-83A1-F6EECF244321}">
                <p14:modId xmlns:p14="http://schemas.microsoft.com/office/powerpoint/2010/main" val="3979045336"/>
              </p:ext>
            </p:extLst>
          </p:nvPr>
        </p:nvGraphicFramePr>
        <p:xfrm>
          <a:off x="533400" y="2009775"/>
          <a:ext cx="11125200" cy="2781300"/>
        </p:xfrm>
        <a:graphic>
          <a:graphicData uri="http://schemas.openxmlformats.org/drawingml/2006/table">
            <a:tbl>
              <a:tblPr firstRow="1"/>
              <a:tblGrid>
                <a:gridCol w="501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538D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Риск или ограничение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ED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538D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Следующий шаг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ED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Мало желающих на одном событии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Синхронный набор в одном сообществе</a:t>
                      </a:r>
                    </a:p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 ограниченный список событий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Нет верификации, жалоб и модерации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Правила встреч, жалобы и блокировки</a:t>
                      </a:r>
                    </a:p>
                    <a:p>
                      <a:r>
                        <a:rPr sz="1725" b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 расширения пилота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Сбой отправки может скрыть мэтч</a:t>
                      </a: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 err="1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Сохранять</a:t>
                      </a:r>
                      <a:r>
                        <a:rPr sz="1725" b="0" dirty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1725" b="0" dirty="0" err="1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задание</a:t>
                      </a:r>
                      <a:r>
                        <a:rPr sz="1725" b="0" dirty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1725" b="0" dirty="0" err="1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на</a:t>
                      </a:r>
                      <a:r>
                        <a:rPr sz="1725" b="0" dirty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1725" b="0" dirty="0" err="1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уведомление</a:t>
                      </a:r>
                      <a:endParaRPr sz="1725" b="0" dirty="0">
                        <a:solidFill>
                          <a:srgbClr val="100C1B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  <a:p>
                      <a:r>
                        <a:rPr sz="1725" b="0" dirty="0" err="1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</a:t>
                      </a:r>
                      <a:r>
                        <a:rPr sz="1725" b="0" dirty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1725" b="0" dirty="0" err="1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повторять</a:t>
                      </a:r>
                      <a:r>
                        <a:rPr sz="1725" b="0" dirty="0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1725" b="0" dirty="0" err="1">
                          <a:solidFill>
                            <a:srgbClr val="100C1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доставку</a:t>
                      </a:r>
                      <a:endParaRPr sz="1725" b="0" dirty="0">
                        <a:solidFill>
                          <a:srgbClr val="100C1B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anchor="ctr">
                    <a:lnL w="4763">
                      <a:solidFill>
                        <a:srgbClr val="F5F3FA"/>
                      </a:solidFill>
                    </a:lnL>
                    <a:lnR w="4763">
                      <a:solidFill>
                        <a:srgbClr val="F5F3FA"/>
                      </a:solidFill>
                    </a:lnR>
                    <a:lnT w="6668">
                      <a:solidFill>
                        <a:srgbClr val="DED8EA"/>
                      </a:solidFill>
                    </a:lnT>
                    <a:lnB w="6668">
                      <a:solidFill>
                        <a:srgbClr val="DED8EA"/>
                      </a:solidFill>
                    </a:lnB>
                    <a:solidFill>
                      <a:srgbClr val="F5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13-В MVP: Москва, социальный пр">
            <a:extLst>
              <a:ext uri="{FF2B5EF4-FFF2-40B4-BE49-F238E27FC236}">
                <a16:creationId xmlns:a16="http://schemas.microsoft.com/office/drawing/2014/main" id="{97323E01-444B-424B-A328-D75BDB803126}"/>
              </a:ext>
            </a:extLst>
          </p:cNvPr>
          <p:cNvSpPr>
            <a:spLocks noGrp="1"/>
          </p:cNvSpPr>
          <p:nvPr/>
        </p:nvSpPr>
        <p:spPr>
          <a:xfrm>
            <a:off x="533400" y="5857875"/>
            <a:ext cx="109347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7538D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7538D5"/>
                </a:solidFill>
                <a:latin typeface="DejaVu Sans"/>
                <a:ea typeface="DejaVu Sans"/>
                <a:cs typeface="DejaVu Sans"/>
              </a:rPr>
              <a:t>В MVP: Москва, социальный профиль 18+, ручной обмен контактом по согласию.</a:t>
            </a:r>
          </a:p>
        </p:txBody>
      </p:sp>
    </p:spTree>
    <p:extLst>
      <p:ext uri="{BB962C8B-B14F-4D97-AF65-F5344CB8AC3E}">
        <p14:creationId xmlns:p14="http://schemas.microsoft.com/office/powerpoint/2010/main" val="479575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6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14-ДВИЖМАКС">
            <a:extLst>
              <a:ext uri="{FF2B5EF4-FFF2-40B4-BE49-F238E27FC236}">
                <a16:creationId xmlns:a16="http://schemas.microsoft.com/office/drawing/2014/main" id="{2065E96B-356D-4644-AE96-161C5DD38A51}"/>
              </a:ext>
            </a:extLst>
          </p:cNvPr>
          <p:cNvSpPr>
            <a:spLocks noGrp="1"/>
          </p:cNvSpPr>
          <p:nvPr/>
        </p:nvSpPr>
        <p:spPr>
          <a:xfrm>
            <a:off x="533400" y="771525"/>
            <a:ext cx="653415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ДВИЖМАКС</a:t>
            </a:r>
          </a:p>
        </p:txBody>
      </p:sp>
      <p:sp>
        <p:nvSpPr>
          <p:cNvPr id="3" name="t14-Интересное событие.&#10;Компания">
            <a:extLst>
              <a:ext uri="{FF2B5EF4-FFF2-40B4-BE49-F238E27FC236}">
                <a16:creationId xmlns:a16="http://schemas.microsoft.com/office/drawing/2014/main" id="{70D4D3A0-99E7-41C3-91C0-A97B287A9758}"/>
              </a:ext>
            </a:extLst>
          </p:cNvPr>
          <p:cNvSpPr>
            <a:spLocks noGrp="1"/>
          </p:cNvSpPr>
          <p:nvPr/>
        </p:nvSpPr>
        <p:spPr>
          <a:xfrm>
            <a:off x="533400" y="2066925"/>
            <a:ext cx="5381625" cy="1685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Интересное событие.</a:t>
            </a:r>
          </a:p>
          <a:p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Компания с тем же</a:t>
            </a:r>
          </a:p>
          <a:p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планом.</a:t>
            </a:r>
          </a:p>
        </p:txBody>
      </p:sp>
      <p:sp>
        <p:nvSpPr>
          <p:cNvPr id="4" name="t14-Попробовать в MAX">
            <a:extLst>
              <a:ext uri="{FF2B5EF4-FFF2-40B4-BE49-F238E27FC236}">
                <a16:creationId xmlns:a16="http://schemas.microsoft.com/office/drawing/2014/main" id="{5330B710-7441-4359-BD91-DD1D05E41554}"/>
              </a:ext>
            </a:extLst>
          </p:cNvPr>
          <p:cNvSpPr>
            <a:spLocks noGrp="1"/>
          </p:cNvSpPr>
          <p:nvPr/>
        </p:nvSpPr>
        <p:spPr>
          <a:xfrm>
            <a:off x="571500" y="4229100"/>
            <a:ext cx="5943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25" b="1">
                <a:solidFill>
                  <a:srgbClr val="FF668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6688"/>
                </a:solidFill>
                <a:latin typeface="DejaVu Sans"/>
                <a:ea typeface="DejaVu Sans"/>
                <a:cs typeface="DejaVu Sans"/>
              </a:rPr>
              <a:t>Попробовать в MAX</a:t>
            </a:r>
          </a:p>
        </p:txBody>
      </p:sp>
      <p:sp>
        <p:nvSpPr>
          <p:cNvPr id="5" name="t14-max.ru/t110_hakaton_max_bot">
            <a:extLst>
              <a:ext uri="{FF2B5EF4-FFF2-40B4-BE49-F238E27FC236}">
                <a16:creationId xmlns:a16="http://schemas.microsoft.com/office/drawing/2014/main" id="{951C3A07-5CA4-4F50-A2FB-D1518133A094}"/>
              </a:ext>
            </a:extLst>
          </p:cNvPr>
          <p:cNvSpPr>
            <a:spLocks noGrp="1"/>
          </p:cNvSpPr>
          <p:nvPr/>
        </p:nvSpPr>
        <p:spPr>
          <a:xfrm>
            <a:off x="571500" y="4810125"/>
            <a:ext cx="59817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D4D4E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4D4E0"/>
                </a:solidFill>
                <a:latin typeface="DejaVu Sans"/>
                <a:ea typeface="DejaVu Sans"/>
                <a:cs typeface="DejaVu Sans"/>
              </a:rPr>
              <a:t>max.ru/t110_hakaton_max_bot</a:t>
            </a:r>
          </a:p>
        </p:txBody>
      </p:sp>
      <p:sp>
        <p:nvSpPr>
          <p:cNvPr id="6" name="t14-Егор  /  продукт            ">
            <a:extLst>
              <a:ext uri="{FF2B5EF4-FFF2-40B4-BE49-F238E27FC236}">
                <a16:creationId xmlns:a16="http://schemas.microsoft.com/office/drawing/2014/main" id="{145B1ECA-CE75-429D-A8D2-254CC48F71CA}"/>
              </a:ext>
            </a:extLst>
          </p:cNvPr>
          <p:cNvSpPr>
            <a:spLocks noGrp="1"/>
          </p:cNvSpPr>
          <p:nvPr/>
        </p:nvSpPr>
        <p:spPr>
          <a:xfrm>
            <a:off x="571500" y="5734050"/>
            <a:ext cx="91344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D4D4E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D4D4E0"/>
                </a:solidFill>
                <a:latin typeface="DejaVu Sans"/>
                <a:ea typeface="DejaVu Sans"/>
                <a:cs typeface="DejaVu Sans"/>
              </a:rPr>
              <a:t>Егор  /  продукт                 Аким  /  разработка</a:t>
            </a:r>
          </a:p>
          <a:p>
            <a:pPr>
              <a:defRPr sz="1350" b="0">
                <a:solidFill>
                  <a:srgbClr val="D4D4E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D4D4E0"/>
                </a:solidFill>
                <a:latin typeface="DejaVu Sans"/>
                <a:ea typeface="DejaVu Sans"/>
                <a:cs typeface="DejaVu Sans"/>
              </a:rPr>
              <a:t>Иван  /  UX                       Дмитрий  /  исследование и QA</a:t>
            </a:r>
          </a:p>
        </p:txBody>
      </p:sp>
      <p:sp>
        <p:nvSpPr>
          <p:cNvPr id="7" name="t14-ДВИЖМАКС">
            <a:extLst>
              <a:ext uri="{FF2B5EF4-FFF2-40B4-BE49-F238E27FC236}">
                <a16:creationId xmlns:a16="http://schemas.microsoft.com/office/drawing/2014/main" id="{406AD524-DCB9-47C6-B563-CC254DC41205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2000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1">
                <a:solidFill>
                  <a:srgbClr val="A8ABC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A8ABC0"/>
                </a:solidFill>
                <a:latin typeface="DejaVu Sans"/>
                <a:ea typeface="DejaVu Sans"/>
                <a:cs typeface="DejaVu Sans"/>
              </a:rPr>
              <a:t>ДВИЖМАКС</a:t>
            </a:r>
          </a:p>
        </p:txBody>
      </p:sp>
      <p:sp>
        <p:nvSpPr>
          <p:cNvPr id="9" name="t14-15">
            <a:extLst>
              <a:ext uri="{FF2B5EF4-FFF2-40B4-BE49-F238E27FC236}">
                <a16:creationId xmlns:a16="http://schemas.microsoft.com/office/drawing/2014/main" id="{6B7748C7-EB80-494D-BB24-3939D67B4794}"/>
              </a:ext>
            </a:extLst>
          </p:cNvPr>
          <p:cNvSpPr>
            <a:spLocks noGrp="1"/>
          </p:cNvSpPr>
          <p:nvPr/>
        </p:nvSpPr>
        <p:spPr>
          <a:xfrm>
            <a:off x="11268075" y="6429375"/>
            <a:ext cx="419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A8AB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dirty="0">
                <a:solidFill>
                  <a:srgbClr val="A8ABC0"/>
                </a:solidFill>
                <a:latin typeface="DejaVu Sans"/>
                <a:ea typeface="DejaVu Sans"/>
                <a:cs typeface="DejaVu Sans"/>
              </a:rPr>
              <a:t>1</a:t>
            </a:r>
            <a:r>
              <a:rPr lang="en-US" sz="1200" b="0" dirty="0">
                <a:solidFill>
                  <a:srgbClr val="A8ABC0"/>
                </a:solidFill>
                <a:latin typeface="DejaVu Sans"/>
                <a:ea typeface="DejaVu Sans"/>
                <a:cs typeface="DejaVu Sans"/>
              </a:rPr>
              <a:t>6</a:t>
            </a:r>
            <a:endParaRPr sz="1200" b="0" dirty="0">
              <a:solidFill>
                <a:srgbClr val="A8ABC0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1763871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3393</Words>
  <Application>Microsoft Macintosh PowerPoint</Application>
  <DocSecurity>0</DocSecurity>
  <PresentationFormat>Widescreen</PresentationFormat>
  <Paragraphs>322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Aptos</vt:lpstr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omgthisisegor@outlook.com</cp:lastModifiedBy>
  <cp:revision>3</cp:revision>
  <dcterms:created xsi:type="dcterms:W3CDTF">2026-09-27T08:43:59Z</dcterms:created>
  <dcterms:modified xsi:type="dcterms:W3CDTF">2026-10-02T09:37:59Z</dcterms:modified>
</cp:coreProperties>
</file>